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00000001-1111-4111-8111-000000000001}">
          <ns0:sldIdLst>
            <ns0:sldId id="256"/>
          </ns0:sldIdLst>
        </ns0:section>
        <ns0:section name="Close" id="{00000002-1111-4111-8111-000000000002}">
          <ns0:sldIdLst>
            <ns0:sldId id="257"/>
            <ns0:sldId id="258"/>
          </ns0:sldIdLst>
        </ns0:section>
        <ns0:section name="Close" id="{00000003-1111-4111-8111-000000000003}">
          <ns0:sldIdLst>
            <ns0:sldId id="259"/>
            <ns0:sldId id="260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Financial summary briefing remains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ou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ou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4"/>
          </p:nvPr>
        </p:nvSpPr>
        <p:spPr>
          <a:xfrm>
            <a:off x="640080" y="1463040"/>
            <a:ext cx="6858000" cy="15087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8"/>
          </p:nvPr>
        </p:nvSpPr>
        <p:spPr>
          <a:xfrm>
            <a:off x="8229600" y="1463040"/>
            <a:ext cx="2743200" cy="15087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business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September leadership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Operations decisions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Close the service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results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North and South remain on plan.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summary</a:t>
            </a:r>
          </a:p>
        </p:txBody>
      </p:sp>
      <p:sp>
        <p:nvSpPr>
          <p:cNvPr id="3" name="Main narrative"/>
          <p:cNvSpPr>
            <a:spLocks noGrp="1"/>
          </p:cNvSpPr>
          <p:nvPr>
            <p:ph idx="4" sz="half"/>
          </p:nvPr>
        </p:nvSpPr>
        <p:spPr/>
        <p:txBody>
          <a:bodyPr/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Revenue remains on plan.</a:t>
            </a:r>
          </a:p>
          <a:p>
            <a:r>
              <a:rPr sz="2200">
                <a:solidFill>
                  <a:srgbClr val="243746"/>
                </a:solidFill>
                <a:latin typeface="Arial"/>
              </a:rPr>
              <a:t>Margin is within guidance.</a:t>
            </a:r>
          </a:p>
        </p:txBody>
      </p:sp>
      <p:sp>
        <p:nvSpPr>
          <p:cNvPr id="4" name="Sidebar"/>
          <p:cNvSpPr>
            <a:spLocks noGrp="1"/>
          </p:cNvSpPr>
          <p:nvPr>
            <p:ph idx="8" sz="half"/>
          </p:nvPr>
        </p:nvSpPr>
        <p:spPr/>
        <p:txBody>
          <a:bodyPr/>
          <a:lstStyle/>
          <a:p>
            <a:r>
              <a:rPr sz="1800">
                <a:solidFill>
                  <a:srgbClr val="243746"/>
                </a:solidFill>
                <a:latin typeface="Arial"/>
              </a:rPr>
              <a:t>Finance owner</a:t>
            </a:r>
          </a:p>
          <a:p>
            <a:r>
              <a:rPr sz="1800">
                <a:solidFill>
                  <a:srgbClr val="243746"/>
                </a:solidFill>
                <a:latin typeface="Arial"/>
              </a:rPr>
              <a:t>September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Closing commitments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Confirm the planning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