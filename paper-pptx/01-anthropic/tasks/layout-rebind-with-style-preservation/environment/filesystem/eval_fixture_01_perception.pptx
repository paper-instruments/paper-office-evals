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1e4c9780784bd6" /><Relationship Type="http://schemas.openxmlformats.org/officeDocument/2006/relationships/extended-properties" Target="/docProps/app.xml" Id="R58a8f721e9ea4ae9" /><Relationship Type="http://schemas.openxmlformats.org/officeDocument/2006/relationships/officeDocument" Target="/ppt/presentation.xml" Id="Ra50ffd3f153a40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25701405064823"/>
    <p:sldMasterId xmlns:r="http://schemas.openxmlformats.org/officeDocument/2006/relationships" id="2147483650" r:id="Re7d3b819b3984f7d"/>
  </p:sldMasterIdLst>
  <p:notesMasterIdLst>
    <p:notesMasterId xmlns:r="http://schemas.openxmlformats.org/officeDocument/2006/relationships" r:id="R37959f8b47184078"/>
  </p:notesMasterIdLst>
  <p:sldIdLst>
    <p:sldId xmlns:r="http://schemas.openxmlformats.org/officeDocument/2006/relationships" id="256" r:id="R39a61a0c9d04457d"/>
    <p:sldId xmlns:r="http://schemas.openxmlformats.org/officeDocument/2006/relationships" id="257" r:id="R9b6ed7cba850411f"/>
    <p:sldId xmlns:r="http://schemas.openxmlformats.org/officeDocument/2006/relationships" id="258" r:id="Re4ba5af11b7f43e9"/>
    <p:sldId xmlns:r="http://schemas.openxmlformats.org/officeDocument/2006/relationships" id="259" r:id="Rbf86c03b9f7249ae"/>
    <p:sldId xmlns:r="http://schemas.openxmlformats.org/officeDocument/2006/relationships" id="260" r:id="Ra5673239885c47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21f2b5bdc4449" /><Relationship Type="http://schemas.openxmlformats.org/officeDocument/2006/relationships/slideMaster" Target="/ppt/slideMasters/slideMaster1.xml" Id="Rad25701405064823" /><Relationship Type="http://schemas.openxmlformats.org/officeDocument/2006/relationships/slideMaster" Target="/ppt/slideMasters/slideMaster2.xml" Id="Re7d3b819b3984f7d" /><Relationship Type="http://schemas.openxmlformats.org/officeDocument/2006/relationships/notesMaster" Target="/ppt/notesMasters/notesMaster1.xml" Id="R37959f8b47184078" /><Relationship Type="http://schemas.openxmlformats.org/officeDocument/2006/relationships/presProps" Target="/ppt/presProps.xml" Id="R19f41be39c3945ce" /><Relationship Type="http://schemas.openxmlformats.org/officeDocument/2006/relationships/tableStyles" Target="/ppt/tableStyles.xml" Id="R357f2341c14543c6" /><Relationship Type="http://schemas.openxmlformats.org/officeDocument/2006/relationships/slide" Target="/ppt/slides/slide1.xml" Id="R39a61a0c9d04457d" /><Relationship Type="http://schemas.openxmlformats.org/officeDocument/2006/relationships/slide" Target="/ppt/slides/slide2.xml" Id="R9b6ed7cba850411f" /><Relationship Type="http://schemas.openxmlformats.org/officeDocument/2006/relationships/slide" Target="/ppt/slides/slide3.xml" Id="Re4ba5af11b7f43e9" /><Relationship Type="http://schemas.openxmlformats.org/officeDocument/2006/relationships/slide" Target="/ppt/slides/slide4.xml" Id="Rbf86c03b9f7249ae" /><Relationship Type="http://schemas.openxmlformats.org/officeDocument/2006/relationships/slide" Target="/ppt/slides/slide5.xml" Id="Ra5673239885c47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eb803e8bd0a42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45110f86204ce1" /><Relationship Type="http://schemas.openxmlformats.org/officeDocument/2006/relationships/notesMaster" Target="/ppt/notesMasters/notesMaster1.xml" Id="Rab129fba050541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6e19a9aa64199" /><Relationship Type="http://schemas.openxmlformats.org/officeDocument/2006/relationships/notesMaster" Target="/ppt/notesMasters/notesMaster1.xml" Id="R0a8f73fc64914c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d572df909948c3" /><Relationship Type="http://schemas.openxmlformats.org/officeDocument/2006/relationships/notesMaster" Target="/ppt/notesMasters/notesMaster1.xml" Id="Rad50e11dedba45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9ffca89d7e41d4" /><Relationship Type="http://schemas.openxmlformats.org/officeDocument/2006/relationships/notesMaster" Target="/ppt/notesMasters/notesMaster1.xml" Id="R7d820bff369943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86c7da0be4869" /><Relationship Type="http://schemas.openxmlformats.org/officeDocument/2006/relationships/notesMaster" Target="/ppt/notesMasters/notesMaster1.xml" Id="R10458be2938c4c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5ba5dc1b641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2ecf31198c47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b4978b60ba4f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15b68964ca4a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Perception Blue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BABAC06-4517-4261-AE15-11D2146A06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Perception Blue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CB1366A2-AE46-46C3-AE6F-D8129751B6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171450">
              <a:buFont typeface="Arial"/>
              <a:buChar char="•"/>
              <a:defRPr sz="2600">
                <a:solidFill>
                  <a:schemeClr val="accent1"/>
                </a:solidFill>
                <a:latin typeface="Trebuchet MS"/>
              </a:defRPr>
            </a:lvl1pPr>
          </a:lstStyle>
          <a:p xmlns:a="http://schemas.openxmlformats.org/drawingml/2006/main">
            <a:r>
              <a:t>Body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House Blu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38E2BD6-22FC-41A0-964C-1E2BC6611A5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defRPr sz="2200">
                <a:solidFill>
                  <a:srgbClr val="1F4E79"/>
                </a:solidFill>
                <a:latin typeface="Aptos"/>
              </a:defRPr>
            </a:lvl1pPr>
          </a:lstStyle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f6330b25e64d3a" /><Relationship Type="http://schemas.openxmlformats.org/officeDocument/2006/relationships/slideLayout" Target="/ppt/slideLayouts/slideLayout1.xml" Id="Rbbf542df05224b0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96c7348cad94ecc" /><Relationship Type="http://schemas.openxmlformats.org/officeDocument/2006/relationships/slideLayout" Target="/ppt/slideLayouts/slideLayout2.xml" Id="R8291958fdd574c51" /><Relationship Type="http://schemas.openxmlformats.org/officeDocument/2006/relationships/slideLayout" Target="/ppt/slideLayouts/slideLayout3.xml" Id="Ra6d34c7e8d874fc1" /><Relationship Type="http://schemas.openxmlformats.org/officeDocument/2006/relationships/slideLayout" Target="/ppt/slideLayouts/slideLayout4.xml" Id="R5e393261c05141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f542df05224b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erception Blue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8291958fdd574c51"/>
    <p:sldLayoutId xmlns:r="http://schemas.openxmlformats.org/officeDocument/2006/relationships" id="2147483652" r:id="Ra6d34c7e8d874fc1"/>
    <p:sldLayoutId xmlns:r="http://schemas.openxmlformats.org/officeDocument/2006/relationships" id="2147483653" r:id="R5e393261c051411a"/>
  </p:sldLayoutIdLst>
</p:sldMaster>
</file>

<file path=ppt/slideMasters/theme/theme2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78f1fbe2e240b3" /><Relationship Type="http://schemas.openxmlformats.org/officeDocument/2006/relationships/notesSlide" Target="/ppt/notesSlides/notesSlide1.xml" Id="R8debe44e345845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fdf80bf8cf0476a" /><Relationship Type="http://schemas.openxmlformats.org/officeDocument/2006/relationships/chart" Target="/ppt/slides/charts/chart1.xml" Id="Rc8f4c6f8dc474ec9" /><Relationship Type="http://schemas.openxmlformats.org/officeDocument/2006/relationships/notesSlide" Target="/ppt/notesSlides/notesSlide2.xml" Id="R159143cc9fe047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3ded8450e248bd" /><Relationship Type="http://schemas.openxmlformats.org/officeDocument/2006/relationships/notesSlide" Target="/ppt/notesSlides/notesSlide3.xml" Id="R66535d4d1ef246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f9f5bd28c4c48b4" /><Relationship Type="http://schemas.openxmlformats.org/officeDocument/2006/relationships/notesSlide" Target="/ppt/notesSlides/notesSlide4.xml" Id="Rc5573ca52ea247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08e9401ff94a45" /><Relationship Type="http://schemas.openxmlformats.org/officeDocument/2006/relationships/image" Target="/ppt/media/image.png" Id="R8341e50aabaf402d" /><Relationship Type="http://schemas.openxmlformats.org/officeDocument/2006/relationships/notesSlide" Target="/ppt/notesSlides/notesSlide5.xml" Id="R0d731fd93c6b4f7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6</c:v>
              </c:pt>
              <c:pt idx="2">
                <c:v>7</c:v>
              </c:pt>
              <c:pt idx="3">
                <c:v>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B04EC655-2CA5-46DA-8048-E5EBF546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NORTHSTAR OPERATIONS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9FDAA9CE-E1E9-4930-9CAE-ECF74F88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Inspection should reveal the whole deck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27722239-0468-4007-9521-E1C2AA93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Adversarial perception and inheritance substrate</a:t>
            </a:r>
          </a:p>
        </p:txBody>
      </p:sp>
    </p:spTree>
    <p:extLst>
      <p:ext uri="{BB962C8B-B14F-4D97-AF65-F5344CB8AC3E}">
        <p14:creationId xmlns:p14="http://schemas.microsoft.com/office/powerpoint/2010/main" val="1530999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6AFE1569-8694-49A2-9BB3-40EB7301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text hides inside nested structures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95B751CB-9365-4890-84EC-479A0EB6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Old account caption">
            <a:extLst xmlns:a="http://schemas.openxmlformats.org/drawingml/2006/main">
              <a:ext uri="{FF2B5EF4-FFF2-40B4-BE49-F238E27FC236}">
                <a16:creationId xmlns:a16="http://schemas.microsoft.com/office/drawing/2014/main" id="{0C5D9E20-FE5C-43EB-90E5-37F36ABE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Nested group container</a:t>
            </a:r>
          </a:p>
        </p:txBody>
      </p:sp>
      <p:graphicFrame>
        <p:nvGraphicFramePr>
          <p:cNvPr id="13" name="Perception Table"/>
          <p:cNvGraphicFramePr/>
          <p:nvPr/>
        </p:nvGraphicFramePr>
        <p:xfrm>
          <a:off xmlns:a="http://schemas.openxmlformats.org/drawingml/2006/main" x="5810250" y="1600200"/>
          <a:ext xmlns:a="http://schemas.openxmlformats.org/drawingml/2006/main" cx="542925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809750"/>
                <a:gridCol w="1809750"/>
              </a:tblGrid>
              <a:tr h="6985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Phrase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ACME table cell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Ravi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4" name="Blind Chart"/>
          <p:cNvGraphicFramePr/>
          <p:nvPr/>
        </p:nvGraphicFramePr>
        <p:xfrm>
          <a:off xmlns:a="http://schemas.openxmlformats.org/drawingml/2006/main" x="5810250" y="4000500"/>
          <a:ext xmlns:a="http://schemas.openxmlformats.org/drawingml/2006/main" cx="542925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f4c6f8dc474ec9"/>
          </a:graphicData>
        </a:graphic>
      </p:graphicFrame>
      <p:grpSp>
        <p:nvGrpSpPr>
          <p:cNvPr id="15" name="Account diagram"/>
          <p:cNvGrpSpPr/>
          <p:nvPr/>
        </p:nvGrpSpPr>
        <p:grpSpPr>
          <ns1:xfrm xmlns:ns1="http://schemas.openxmlformats.org/drawingml/2006/main">
            <ns1:off x="0" y="0"/>
            <ns1:ext cx="12192000" cy="6858000"/>
            <ns1:chOff x="0" y="0"/>
            <ns1:chExt cx="12192000" cy="6858000"/>
          </ns1:xfrm>
        </p:grpSpPr>
        <p:grpSp>
          <p:nvGrpSpPr>
            <p:cNvPr id="16" name="Inner Inspection Group"/>
            <p:cNvGrpSpPr/>
            <p:nvPr/>
          </p:nvGrpSpPr>
          <p:grpSpPr>
            <ns1:xfrm xmlns:ns1="http://schemas.openxmlformats.org/drawingml/2006/main">
              <ns1:off x="0" y="0"/>
              <ns1:ext cx="12192000" cy="6858000"/>
              <ns1:chOff x="0" y="0"/>
              <ns1:chExt cx="12192000" cy="6858000"/>
            </ns1:xfrm>
          </p:grpSpPr>
          <p:sp>
            <p:nvSpPr>
              <p:cNvPr id="4" name="Account label">
                <a:extLst xmlns:a="http://schemas.openxmlformats.org/drawingml/2006/main">
                  <a:ext uri="{FF2B5EF4-FFF2-40B4-BE49-F238E27FC236}">
                    <a16:creationId xmlns:a16="http://schemas.microsoft.com/office/drawing/2014/main" id="{9DCC133E-BFF9-41A0-9A6E-54D728EDC58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266950"/>
                <a:ext cx="4000500" cy="704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Autofit/>
              </a:bodyPr>
              <a:lstStyle xmlns:a="http://schemas.openxmlformats.org/drawingml/2006/main"/>
              <a:p xmlns:a="http://schemas.openxmlformats.org/drawingml/2006/main">
                <a:pPr>
                  <a:defRPr sz="22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defRPr>
                </a:pPr>
                <a:r>
                  <a:rPr sz="2250" b="1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ACME </a:t>
                </a:r>
                <a:r>
                  <a:rPr sz="22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ARR</a:t>
                </a:r>
              </a:p>
            </p:txBody>
          </p:sp>
          <p:sp>
            <p:nvSpPr>
              <p:cNvPr id="5" name="Soft Break Field Target">
                <a:extLst xmlns:a="http://schemas.openxmlformats.org/drawingml/2006/main">
                  <a:ext uri="{FF2B5EF4-FFF2-40B4-BE49-F238E27FC236}">
                    <a16:creationId xmlns:a16="http://schemas.microsoft.com/office/drawing/2014/main" id="{7FF07F4B-EBD3-4B86-88C9-2DC463D14F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219450"/>
                <a:ext cx="4000500" cy="1009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Autofit/>
              </a:bodyPr>
              <a:lstStyle xmlns:a="http://schemas.openxmlformats.org/drawingml/2006/main"/>
              <a:p xmlns:a="http://schemas.openxmlformats.org/drawingml/2006/main">
                <a:pPr>
                  <a:def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defRPr>
                </a:pPr>
                <a:r>
                  <a: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Forecast owner</a:t>
                </a:r>
              </a:p>
              <a:p xmlns:a="http://schemas.openxmlformats.org/drawingml/2006/main">
                <a:pPr>
                  <a:def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defRPr>
                </a:pPr>
                <a:r>
                  <a: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Finance</a:t>
                </a:r>
              </a:p>
              <ns0:p xmlns:ns0="http://schemas.openxmlformats.org/drawingml/2006/main">
                <ns0:r>
                  <ns0:rPr lang="en-US" sz="1800"/>
                  <ns0:t xml:space="preserve">Field cache: </ns0:t>
                </ns0:r>
                <ns0:fld id="{00000000-1111-4222-8333-000000000019}" type="datetime3">
                  <ns0:rPr lang="en-US" sz="1800"/>
                  <ns0:t>Q4</ns0:t>
                </ns0:fld>
                <ns0:br>
                  <ns0:rPr lang="en-US" sz="1800"/>
                </ns0:br>
                <ns0:r>
                  <ns0:rPr lang="en-US" sz="1800"/>
                  <ns0:t>after soft break</ns0:t>
                </ns0:r>
              </ns0:p>
            </p:txBody>
          </p:sp>
        </p:grpSp>
      </p:grpSp>
    </p:spTree>
    <p:extLst>
      <p:ext uri="{BB962C8B-B14F-4D97-AF65-F5344CB8AC3E}">
        <p14:creationId xmlns:p14="http://schemas.microsoft.com/office/powerpoint/2010/main" val="1839350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F8036672-8A64-4B6B-80E0-0DA5737C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Market outlook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A7B42228-1C6F-4D00-B699-5D71F674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Market summary">
            <a:extLst xmlns:a="http://schemas.openxmlformats.org/drawingml/2006/main">
              <a:ext uri="{FF2B5EF4-FFF2-40B4-BE49-F238E27FC236}">
                <a16:creationId xmlns:a16="http://schemas.microsoft.com/office/drawing/2014/main" id="{26C84312-4C9A-4435-8126-EB408C9303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1500" y="16002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/>
            </a:pPr>
            <a:r>
              <a:rPr/>
              <a:t>This body intentionally has no local font size or color after post-processing.</a:t>
            </a:r>
          </a:p>
        </p:txBody>
      </p:sp>
      <p:sp>
        <p:nvSpPr>
          <p:cNvPr id="4" name="Color Transform Target">
            <a:extLst xmlns:a="http://schemas.openxmlformats.org/drawingml/2006/main">
              <a:ext uri="{FF2B5EF4-FFF2-40B4-BE49-F238E27FC236}">
                <a16:creationId xmlns:a16="http://schemas.microsoft.com/office/drawing/2014/main" id="{5F3E934D-8C77-4182-816F-C3E3D8C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accent1">
                    <a:lumMod val="65000"/>
                    <a:lumOff val="25000"/>
                  </a:schemeClr>
                </a:solidFill>
                <a:latin typeface="Helvetica Neue"/>
                <a:ea typeface="Helvetica Neue"/>
                <a:cs typeface="Helvetica Neue"/>
              </a:rPr>
              <a:t>Theme accent with luminosity transform</a:t>
            </a:r>
          </a:p>
        </p:txBody>
      </p:sp>
      <p:sp>
        <p:nvSpPr>
          <p:cNvPr id="5" name="East Asian Unresolved">
            <a:extLst xmlns:a="http://schemas.openxmlformats.org/drawingml/2006/main">
              <a:ext uri="{FF2B5EF4-FFF2-40B4-BE49-F238E27FC236}">
                <a16:creationId xmlns:a16="http://schemas.microsoft.com/office/drawing/2014/main" id="{CF053AE4-70A0-4726-B75B-1C7A7B36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cs typeface="Helvetica Neue"/>
                <a:ea typeface="+mn-ea"/>
              </a:rPr>
              <a:t>東京 forecast</a:t>
            </a:r>
          </a:p>
        </p:txBody>
      </p:sp>
      <p:sp>
        <p:nvSpPr>
          <p:cNvPr id="6" name="Gradient Unresolved">
            <a:extLst xmlns:a="http://schemas.openxmlformats.org/drawingml/2006/main">
              <a:ext uri="{FF2B5EF4-FFF2-40B4-BE49-F238E27FC236}">
                <a16:creationId xmlns:a16="http://schemas.microsoft.com/office/drawing/2014/main" id="{7C1966F1-AF46-4326-ABEB-3314F24B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gradFill rotWithShape="1">
                  <a:gsLst>
                    <a:gs pos="0">
                      <a:srgbClr val="7C3AED"/>
                    </a:gs>
                    <a:gs pos="100000">
                      <a:srgbClr val="3D8DFF"/>
                    </a:gs>
                  </a:gsLst>
                  <a:lin ang="5400000" scaled="1"/>
                </a:gradFill>
                <a:latin typeface="Helvetica Neue"/>
                <a:ea typeface="Helvetica Neue"/>
                <a:cs typeface="Helvetica Neue"/>
              </a:rPr>
              <a:t>Gradient style refusal bait</a:t>
            </a:r>
          </a:p>
        </p:txBody>
      </p:sp>
    </p:spTree>
    <p:extLst>
      <p:ext uri="{BB962C8B-B14F-4D97-AF65-F5344CB8AC3E}">
        <p14:creationId xmlns:p14="http://schemas.microsoft.com/office/powerpoint/2010/main" val="613867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F4E14975-2CCC-49B1-A4E3-0BFB0D30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outlook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F1C59ACB-1BA1-419C-8E7A-FE2A254A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Orphan Subtitle Field">
            <a:extLst xmlns:a="http://schemas.openxmlformats.org/drawingml/2006/main">
              <a:ext uri="{FF2B5EF4-FFF2-40B4-BE49-F238E27FC236}">
                <a16:creationId xmlns:a16="http://schemas.microsoft.com/office/drawing/2014/main" id="{E8567403-72FE-4528-A5F5-D71A09E8A9E0}"/>
              </a:ext>
            </a:extLst>
          </p:cNvPr>
          <p:cNvSpPr>
            <a:spLocks xmlns:a="http://schemas.openxmlformats.org/drawingml/2006/main" noGrp="1"/>
          </p:cNvSpPr>
          <p:nvPr>
            <p:ph type="subTitle" idx="77"/>
          </p:nvPr>
        </p:nvSpPr>
        <p:spPr>
          <a:xfrm xmlns:a="http://schemas.openxmlformats.org/drawingml/2006/main">
            <a:off x="571500" y="1714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ORPHAN SUBTITLE FIELD</a:t>
            </a:r>
          </a:p>
        </p:txBody>
      </p:sp>
      <p:sp>
        <p:nvSpPr>
          <p:cNvPr id="4" name="Rebind Body">
            <a:extLst xmlns:a="http://schemas.openxmlformats.org/drawingml/2006/main">
              <a:ext uri="{FF2B5EF4-FFF2-40B4-BE49-F238E27FC236}">
                <a16:creationId xmlns:a16="http://schemas.microsoft.com/office/drawing/2014/main" id="{E5DAF8EE-81F1-426D-8B72-0C07525165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67500" y="19812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Auto-match must fall back from idx to type/family.</a:t>
            </a:r>
          </a:p>
        </p:txBody>
      </p:sp>
    </p:spTree>
    <p:extLst>
      <p:ext uri="{BB962C8B-B14F-4D97-AF65-F5344CB8AC3E}">
        <p14:creationId xmlns:p14="http://schemas.microsoft.com/office/powerpoint/2010/main" val="670110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8F661E8E-23A6-42C4-9702-E91D4F5C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Names are convenient until they are ambiguous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4E5F8165-19CA-4F07-B658-53E75FA6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Route label">
            <a:extLst xmlns:a="http://schemas.openxmlformats.org/drawingml/2006/main">
              <a:ext uri="{FF2B5EF4-FFF2-40B4-BE49-F238E27FC236}">
                <a16:creationId xmlns:a16="http://schemas.microsoft.com/office/drawing/2014/main" id="{861C4DB5-C312-4ED1-B0CE-D8615856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duplicate one</a:t>
            </a:r>
          </a:p>
        </p:txBody>
      </p:sp>
      <p:sp>
        <p:nvSpPr>
          <p:cNvPr id="4" name="Route label">
            <a:extLst xmlns:a="http://schemas.openxmlformats.org/drawingml/2006/main">
              <a:ext uri="{FF2B5EF4-FFF2-40B4-BE49-F238E27FC236}">
                <a16:creationId xmlns:a16="http://schemas.microsoft.com/office/drawing/2014/main" id="{C0380E3D-FC68-4B5F-A80C-A71857CA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duplicate two</a:t>
            </a:r>
          </a:p>
        </p:txBody>
      </p:sp>
      <p:pic>
        <p:nvPicPr>
          <p:cNvPr id="10" name="Route labe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1e50aabaf402d"/>
          <a:srcRect xmlns:a="http://schemas.openxmlformats.org/drawingml/2006/main" l="0" t="24688" r="0" b="24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714500"/>
            <a:ext cx="34290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</p:spTree>
    <p:extLst>
      <p:ext uri="{BB962C8B-B14F-4D97-AF65-F5344CB8AC3E}">
        <p14:creationId xmlns:p14="http://schemas.microsoft.com/office/powerpoint/2010/main" val="906362986"/>
      </p:ext>
    </p:extLst>
  </p:cSld>
</p:sld>
</file>

<file path=ppt/theme/theme1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2026-07-13T09:28:58.6530000Z</dcterms:created>
  <dcterms:modified xsi:type="dcterms:W3CDTF">2026-07-13T09:28:58.6530000Z</dcterms:modified>
</coreProperties>
</file>