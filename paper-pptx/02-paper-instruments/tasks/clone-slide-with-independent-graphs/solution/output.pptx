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ommentAuthors.xml" ContentType="application/vnd.openxmlformats-officedocument.presentationml.commentAuthors+xml"/>
  <Override PartName="/ppt/comments/comment1.xml" ContentType="application/vnd.openxmlformats-officedocument.presentationml.comments+xml"/>
  <Override PartName="/ppt/notesMasters/notesMaster1.xml" ContentType="application/vnd.openxmlformats-officedocument.presentationml.notesMaster+xml"/>
  <Override PartName="/ppt/notesMasters/theme/theme4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theme/theme2.xml" ContentType="application/vnd.openxmlformats-officedocument.theme+xml"/>
  <Override PartName="/ppt/slideMasters/theme/theme3.xml" ContentType="application/vnd.openxmlformats-officedocument.theme+xml"/>
  <Override PartName="/ppt/slides/charts/chart1.xml" ContentType="application/vnd.openxmlformats-officedocument.drawingml.chart+xml"/>
  <Override PartName="/ppt/slides/charts/chart2.xml" ContentType="application/vnd.openxmlformats-officedocument.drawingml.char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</Types>
</file>

<file path=_rels/.rels><?xml version='1.0' encoding='UTF-8' standalone='yes'?>
<Relationships xmlns="http://schemas.openxmlformats.org/package/2006/relationships"><Relationship Type="http://schemas.openxmlformats.org/package/2006/relationships/metadata/core-properties" Target="/docProps/core.xml" Id="R28f1fe0aa8d1419f"/><Relationship Type="http://schemas.openxmlformats.org/officeDocument/2006/relationships/extended-properties" Target="/docProps/app.xml" Id="R0ab81b52a9d24fa1"/><Relationship Type="http://schemas.openxmlformats.org/officeDocument/2006/relationships/officeDocument" Target="/ppt/presentation.xml" Id="R4146346b80114514"/><Relationship Id="rId1" Type="http://schemas.openxmlformats.org/officeDocument/2006/relationships/custom-properties" Target="docProps/custom.xml"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1898d2fc541844fc"/>
    <p:sldMasterId xmlns:r="http://schemas.openxmlformats.org/officeDocument/2006/relationships" id="2147483650" r:id="R762ac02e18b9457b"/>
  </p:sldMasterIdLst>
  <p:notesMasterIdLst>
    <p:notesMasterId xmlns:r="http://schemas.openxmlformats.org/officeDocument/2006/relationships" r:id="Rb608cc08b72c47a0"/>
  </p:notesMasterIdLst>
  <p:sldIdLst>
    <p:sldId xmlns:r="http://schemas.openxmlformats.org/officeDocument/2006/relationships" id="256" r:id="Re6466557b86e4196"/>
    <p:sldId xmlns:r="http://schemas.openxmlformats.org/officeDocument/2006/relationships" id="257" r:id="Ra0ead022e3d8469f"/>
    <p:sldId xmlns:ns0="http://schemas.openxmlformats.org/officeDocument/2006/relationships" id="262" ns0:id="rId15"/>
    <p:sldId xmlns:r="http://schemas.openxmlformats.org/officeDocument/2006/relationships" id="258" r:id="Rf7fe0a4eb75441f7"/>
    <p:sldId xmlns:r="http://schemas.openxmlformats.org/officeDocument/2006/relationships" id="259" r:id="Rfada7e93c0164ddc"/>
    <p:sldId xmlns:r="http://schemas.openxmlformats.org/officeDocument/2006/relationships" id="260" r:id="Rea146f230b7c41a8"/>
    <p:sldId xmlns:r="http://schemas.openxmlformats.org/officeDocument/2006/relationships" id="261" r:id="Rc1579d648d2e4de5"/>
  </p:sldIdLst>
  <p:sldSz cx="12192000" cy="6858000"/>
  <p:notesSz cx="6858000" cy="9144000"/>
  <p:embeddedFontLst>
    <p:embeddedFont>
      <p:font typeface="Paper Eval Fixture Font"/>
      <p:regular xmlns:ns1="http://schemas.openxmlformats.org/officeDocument/2006/relationships" ns1:id="rId2"/>
    </p:embeddedFont>
  </p:embeddedFontLst>
  <p:custShowLst>
    <p:custShow name="Risk Focus" id="0">
      <p:sldLst>
        <p:sld xmlns:ns1="http://schemas.openxmlformats.org/officeDocument/2006/relationships" ns1:id="Ra0ead022e3d8469f"/>
        <p:sld xmlns:ns2="http://schemas.openxmlformats.org/officeDocument/2006/relationships" ns2:id="Rfada7e93c0164ddc"/>
        <p:sld xmlns:ns3="http://schemas.openxmlformats.org/officeDocument/2006/relationships" ns3:id="Rea146f230b7c41a8"/>
      </p:sldLst>
    </p:custShow>
  </p:custShowLst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Opening" id="{11111111-1111-4111-8111-111111111111}">
          <p14:sldIdLst>
            <p14:sldId id="256"/>
          </p14:sldIdLst>
        </p14:section>
        <p14:section name="Work" id="{22222222-2222-4222-8222-222222222222}">
          <p14:sldIdLst>
            <p14:sldId id="257"/>
            <p14:sldId id="262"/>
            <p14:sldId id="258"/>
            <p14:sldId id="259"/>
            <p14:sldId id="260"/>
          </p14:sldIdLst>
        </p14:section>
        <p14:section name="Close" id="{33333333-3333-4333-8333-333333333333}">
          <p14:sldIdLst>
            <p14:sldId id="261"/>
          </p14:sldIdLst>
        </p14:section>
      </p14:sectionLst>
    </p:ext>
  </p:extLst>
</p:presentation>
</file>

<file path=ppt/commentAuthors.xml><?xml version="1.0" encoding="utf-8"?>
<p:cmAuthorLst xmlns:p="http://schemas.openxmlformats.org/presentationml/2006/main">
  <p:cmAuthor id="0" name="Fixture Reviewer" initials="FR" lastIdx="1" clrIdx="0"/>
</p:cmAuthorLst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<?xml version='1.0' encoding='UTF-8' standalone='yes'?>
<Relationships xmlns="http://schemas.openxmlformats.org/package/2006/relationships"><Relationship Id="R1898d2fc541844fc" Type="http://schemas.openxmlformats.org/officeDocument/2006/relationships/slideMaster" Target="slideMasters/slideMaster1.xml"/><Relationship Id="R32840a8a741d4354" Type="http://schemas.openxmlformats.org/officeDocument/2006/relationships/presProps" Target="presProps.xml"/><Relationship Id="R762ac02e18b9457b" Type="http://schemas.openxmlformats.org/officeDocument/2006/relationships/slideMaster" Target="slideMasters/slideMaster2.xml"/><Relationship Id="R861b0e799f0a405d" Type="http://schemas.openxmlformats.org/officeDocument/2006/relationships/tableStyles" Target="tableStyles.xml"/><Relationship Id="Ra0ead022e3d8469f" Type="http://schemas.openxmlformats.org/officeDocument/2006/relationships/slide" Target="slides/slide2.xml"/><Relationship Id="Rb608cc08b72c47a0" Type="http://schemas.openxmlformats.org/officeDocument/2006/relationships/notesMaster" Target="notesMasters/notesMaster1.xml"/><Relationship Id="Rc1579d648d2e4de5" Type="http://schemas.openxmlformats.org/officeDocument/2006/relationships/slide" Target="slides/slide7.xml"/><Relationship Id="Re6466557b86e4196" Type="http://schemas.openxmlformats.org/officeDocument/2006/relationships/slide" Target="slides/slide1.xml"/><Relationship Id="Rea146f230b7c41a8" Type="http://schemas.openxmlformats.org/officeDocument/2006/relationships/slide" Target="slides/slide6.xml"/><Relationship Id="Rf576f23ae42d46d9" Type="http://schemas.openxmlformats.org/officeDocument/2006/relationships/theme" Target="theme/theme1.xml"/><Relationship Id="Rf7fe0a4eb75441f7" Type="http://schemas.openxmlformats.org/officeDocument/2006/relationships/slide" Target="slides/slide4.xml"/><Relationship Id="Rfada7e93c0164ddc" Type="http://schemas.openxmlformats.org/officeDocument/2006/relationships/slide" Target="slides/slide5.xml"/><Relationship Id="rId1" Type="http://schemas.openxmlformats.org/officeDocument/2006/relationships/commentAuthors" Target="commentAuthors.xml"/><Relationship Id="rId2" Type="http://schemas.openxmlformats.org/officeDocument/2006/relationships/font" Target="fonts/fixture-font.fntdata"/><Relationship Id="rId15" Type="http://schemas.openxmlformats.org/officeDocument/2006/relationships/slide" Target="slides/slide3.xml"/></Relationships>
</file>

<file path=ppt/comments/comment1.xml><?xml version="1.0" encoding="utf-8"?>
<p:cmLst xmlns:p="http://schemas.openxmlformats.org/presentationml/2006/main">
  <p:cm authorId="0" dt="2026-07-13T09:00:00.000" idx="1">
    <p:pos x="18" y="24"/>
    <p:text>Review the hidden-risk cleanup.</p:text>
  </p:cm>
</p:cmLst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4.xml" Id="R745240d241934695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4.xml><?xml version="1.0" encoding="utf-8"?>
<a:theme xmlns:a="http://schemas.openxmlformats.org/drawingml/2006/main" name="ChatGPT">
  <a:themeElements>
    <a:clrScheme name="Structure Orange">
      <a:dk1>
        <a:srgbClr val="000000"/>
      </a:dk1>
      <a:lt1>
        <a:srgbClr val="FFFFFF"/>
      </a:lt1>
      <a:dk2>
        <a:srgbClr val="431407"/>
      </a:dk2>
      <a:lt2>
        <a:srgbClr val="FFEDD5"/>
      </a:lt2>
      <a:accent1>
        <a:srgbClr val="EA580C"/>
      </a:accent1>
      <a:accent2>
        <a:srgbClr val="FDBA74"/>
      </a:accent2>
      <a:accent3>
        <a:srgbClr val="2563EB"/>
      </a:accent3>
      <a:accent4>
        <a:srgbClr val="DC2626"/>
      </a:accent4>
      <a:accent5>
        <a:srgbClr val="7C3AED"/>
      </a:accent5>
      <a:accent6>
        <a:srgbClr val="16A34A"/>
      </a:accent6>
      <a:hlink>
        <a:srgbClr val="C2410C"/>
      </a:hlink>
      <a:folHlink>
        <a:srgbClr val="7E22CE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Structure Orange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85ece2b36fcb464d" /><Relationship Type="http://schemas.openxmlformats.org/officeDocument/2006/relationships/notesMaster" Target="/ppt/notesMasters/notesMaster1.xml" Id="Rebef62b3b4b14a87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e6ee88856ec9482c" /><Relationship Type="http://schemas.openxmlformats.org/officeDocument/2006/relationships/notesMaster" Target="/ppt/notesMasters/notesMaster1.xml" Id="R8b15926091884014" /></Relationships>
</file>

<file path=ppt/notesSlides/_rels/notesSlide3.xml.rels><?xml version='1.0' encoding='UTF-8' standalone='yes'?>
<Relationships xmlns="http://schemas.openxmlformats.org/package/2006/relationships"><Relationship Id="R16a30589e7da4b9c" Type="http://schemas.openxmlformats.org/officeDocument/2006/relationships/notesMaster" Target="../notesMasters/notesMaster1.xml"/><Relationship Id="Rcdae27ef306e41bc" Type="http://schemas.openxmlformats.org/officeDocument/2006/relationships/slide" Target="../slides/slide4.xml"/></Relationships>
</file>

<file path=ppt/notesSlides/_rels/notesSlide4.xml.rels><?xml version='1.0' encoding='UTF-8' standalone='yes'?>
<Relationships xmlns="http://schemas.openxmlformats.org/package/2006/relationships"><Relationship Id="R5856552696c1432f" Type="http://schemas.openxmlformats.org/officeDocument/2006/relationships/slide" Target="../slides/slide5.xml"/><Relationship Id="R9f75cc232dd44e18" Type="http://schemas.openxmlformats.org/officeDocument/2006/relationships/notesMaster" Target="../notesMasters/notesMaster1.xml"/></Relationships>
</file>

<file path=ppt/notesSlides/_rels/notesSlide5.xml.rels><?xml version='1.0' encoding='UTF-8' standalone='yes'?>
<Relationships xmlns="http://schemas.openxmlformats.org/package/2006/relationships"><Relationship Id="R82f9243cba2d4ad9" Type="http://schemas.openxmlformats.org/officeDocument/2006/relationships/slide" Target="../slides/slide6.xml"/><Relationship Id="Re66f16c84ef3452f" Type="http://schemas.openxmlformats.org/officeDocument/2006/relationships/notesMaster" Target="../notesMasters/notesMaster1.xml"/></Relationships>
</file>

<file path=ppt/notesSlides/_rels/notesSlide6.xml.rels><?xml version='1.0' encoding='UTF-8' standalone='yes'?>
<Relationships xmlns="http://schemas.openxmlformats.org/package/2006/relationships"><Relationship Id="R37083fbaa1b24d7a" Type="http://schemas.openxmlformats.org/officeDocument/2006/relationships/slide" Target="../slides/slide7.xml"/><Relationship Id="Rbadbfb0e75aa48a3" Type="http://schemas.openxmlformats.org/officeDocument/2006/relationships/notesMaster" Target="../notesMasters/notesMaster1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b="1">
                <a:solidFill>
                  <a:srgbClr val="EA580C"/>
                </a:solidFill>
              </a:rPr>
              <a:t>Clone notes seed: </a:t>
            </a:r>
            <a:r>
              <a:t>edit the clone only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Hidden slide confidential notes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Scrub speaker notes: confidential pricing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b="1">
                <a:solidFill>
                  <a:srgbClr val="EA580C"/>
                </a:solidFill>
              </a:rPr>
              <a:t>Upside scenario for the planning discussion.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<?xml version='1.0' encoding='UTF-8' standalone='yes'?>
<Relationships xmlns="http://schemas.openxmlformats.org/package/2006/relationships"><Relationship Type="http://schemas.openxmlformats.org/officeDocument/2006/relationships/slideMaster" Target="/ppt/slideMasters/slideMaster1.xml" Id="R681da1f85ae5431b"/><Relationship Id="rId1" Type="http://schemas.openxmlformats.org/officeDocument/2006/relationships/image" Target="../media/unused-layout-media.png"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4472b72fe764425f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7f1f4158f61c4671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37e71b6a262b4fd8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Unused Layout Media"/>
          <p:cNvPicPr/>
          <p:nvPr/>
        </p:nvPicPr>
        <p:blipFill>
          <ns1:blip xmlns:ns1="http://schemas.openxmlformats.org/drawingml/2006/main" xmlns:ns2="http://schemas.openxmlformats.org/officeDocument/2006/relationships" ns2:embed="rId1"/>
          <ns3:stretch xmlns:ns3="http://schemas.openxmlformats.org/drawingml/2006/main">
            <ns3:fillRect/>
          </ns3:stretch>
        </p:blipFill>
        <p:spPr>
          <ns4:xfrm xmlns:ns4="http://schemas.openxmlformats.org/drawingml/2006/main">
            <ns4:off x="300000" y="300000"/>
            <ns4:ext cx="900000" cy="900000"/>
          </ns4:xfrm>
          <ns5:prstGeom xmlns:ns5="http://schemas.openxmlformats.org/drawingml/2006/main" prst="rect">
            <ns5:avLst/>
          </ns5:prstGeom>
        </p:spPr>
      </p:pic>
    </p:spTree>
  </p:cSld>
</p:sldLayout>
</file>

<file path=ppt/slideLayouts/slideLayout2.xml><?xml version="1.0" encoding="utf-8"?>
<p:sldLayout xmlns:p="http://schemas.openxmlformats.org/presentationml/2006/main">
  <p:cSld name="Structure Orange Titl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placeholder_2">
            <a:extLst xmlns:a="http://schemas.openxmlformats.org/drawingml/2006/main">
              <a:ext uri="{FF2B5EF4-FFF2-40B4-BE49-F238E27FC236}">
                <a16:creationId xmlns:a16="http://schemas.microsoft.com/office/drawing/2014/main" id="{061BAC6F-AA5C-40F1-85B3-2749EFAA4021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457200" y="4762500"/>
            <a:ext cx="6667500" cy="952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Subtitle</a:t>
            </a:r>
          </a:p>
        </p:txBody>
      </p:sp>
    </p:spTree>
  </p:cSld>
</p:sldLayout>
</file>

<file path=ppt/slideLayouts/slideLayout3.xml><?xml version="1.0" encoding="utf-8"?>
<p:sldLayout xmlns:p="http://schemas.openxmlformats.org/presentationml/2006/main">
  <p:cSld name="Structure Orange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placeholder_2">
            <a:extLst xmlns:a="http://schemas.openxmlformats.org/drawingml/2006/main">
              <a:ext uri="{FF2B5EF4-FFF2-40B4-BE49-F238E27FC236}">
                <a16:creationId xmlns:a16="http://schemas.microsoft.com/office/drawing/2014/main" id="{D0FF1042-7F11-4D8D-9EA4-AD94533ADF93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457200" y="1371600"/>
            <a:ext cx="11277600" cy="4762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Body</a:t>
            </a:r>
          </a:p>
        </p:txBody>
      </p:sp>
    </p:spTree>
  </p:cSld>
</p:sldLayout>
</file>

<file path=ppt/slideLayouts/slideLayout4.xml><?xml version="1.0" encoding="utf-8"?>
<p:sldLayout xmlns:p="http://schemas.openxmlformats.org/presentationml/2006/main">
  <p:cSld name="Structure Orange Alternat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placeholder_3">
            <a:extLst xmlns:a="http://schemas.openxmlformats.org/drawingml/2006/main">
              <a:ext uri="{FF2B5EF4-FFF2-40B4-BE49-F238E27FC236}">
                <a16:creationId xmlns:a16="http://schemas.microsoft.com/office/drawing/2014/main" id="{2F12932B-ED74-46BE-B65A-71B802A97977}"/>
              </a:ext>
            </a:extLst>
          </p:cNvPr>
          <p:cNvSpPr>
            <a:spLocks xmlns:a="http://schemas.openxmlformats.org/drawingml/2006/main" noGrp="1"/>
          </p:cNvSpPr>
          <p:nvPr>
            <p:ph type="subTitle" idx="4"/>
          </p:nvPr>
        </p:nvSpPr>
        <p:spPr>
          <a:xfrm xmlns:a="http://schemas.openxmlformats.org/drawingml/2006/main">
            <a:off x="571500" y="4953000"/>
            <a:ext cx="5143500" cy="8572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Orphan bait</a:t>
            </a:r>
          </a:p>
        </p:txBody>
      </p:sp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044f1ae9c5914436" /><Relationship Type="http://schemas.openxmlformats.org/officeDocument/2006/relationships/slideLayout" Target="/ppt/slideLayouts/slideLayout1.xml" Id="R918f2a0463964d75" /></Relationships>
</file>

<file path=ppt/slideMasters/_rels/slideMaster2.xml.rels>&#65279;<?xml version="1.0" encoding="utf-8"?><Relationships xmlns="http://schemas.openxmlformats.org/package/2006/relationships"><Relationship Type="http://schemas.openxmlformats.org/officeDocument/2006/relationships/theme" Target="/ppt/slideMasters/theme/theme3.xml" Id="Rc10cdfdb9ea8415b" /><Relationship Type="http://schemas.openxmlformats.org/officeDocument/2006/relationships/slideLayout" Target="/ppt/slideLayouts/slideLayout2.xml" Id="Rd947d03f97cc451d" /><Relationship Type="http://schemas.openxmlformats.org/officeDocument/2006/relationships/slideLayout" Target="/ppt/slideLayouts/slideLayout3.xml" Id="R3887971ed421484d" /><Relationship Type="http://schemas.openxmlformats.org/officeDocument/2006/relationships/slideLayout" Target="/ppt/slideLayouts/slideLayout4.xml" Id="R353abfe630c84ad6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918f2a0463964d75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slideMaster2.xml><?xml version="1.0" encoding="utf-8"?>
<p:sldMaster xmlns:p="http://schemas.openxmlformats.org/presentationml/2006/main">
  <p:cSld name="Structure Orange Master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51" r:id="Rd947d03f97cc451d"/>
    <p:sldLayoutId xmlns:r="http://schemas.openxmlformats.org/officeDocument/2006/relationships" id="2147483652" r:id="R3887971ed421484d"/>
    <p:sldLayoutId xmlns:r="http://schemas.openxmlformats.org/officeDocument/2006/relationships" id="2147483653" r:id="R353abfe630c84ad6"/>
  </p:sldLayoutIdLst>
</p:sldMaster>
</file>

<file path=ppt/slideMasters/theme/theme2.xml><?xml version="1.0" encoding="utf-8"?>
<a:theme xmlns:a="http://schemas.openxmlformats.org/drawingml/2006/main" name="ChatGPT">
  <a:themeElements>
    <a:clrScheme name="Structure Orange">
      <a:dk1>
        <a:srgbClr val="000000"/>
      </a:dk1>
      <a:lt1>
        <a:srgbClr val="FFFFFF"/>
      </a:lt1>
      <a:dk2>
        <a:srgbClr val="431407"/>
      </a:dk2>
      <a:lt2>
        <a:srgbClr val="FFEDD5"/>
      </a:lt2>
      <a:accent1>
        <a:srgbClr val="EA580C"/>
      </a:accent1>
      <a:accent2>
        <a:srgbClr val="FDBA74"/>
      </a:accent2>
      <a:accent3>
        <a:srgbClr val="2563EB"/>
      </a:accent3>
      <a:accent4>
        <a:srgbClr val="DC2626"/>
      </a:accent4>
      <a:accent5>
        <a:srgbClr val="7C3AED"/>
      </a:accent5>
      <a:accent6>
        <a:srgbClr val="16A34A"/>
      </a:accent6>
      <a:hlink>
        <a:srgbClr val="C2410C"/>
      </a:hlink>
      <a:folHlink>
        <a:srgbClr val="7E22CE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Structure Orange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Masters/theme/theme3.xml><?xml version="1.0" encoding="utf-8"?>
<a:theme xmlns:a="http://schemas.openxmlformats.org/drawingml/2006/main" name="ChatGPT">
  <a:themeElements>
    <a:clrScheme name="Structure Orange">
      <a:dk1>
        <a:srgbClr val="000000"/>
      </a:dk1>
      <a:lt1>
        <a:srgbClr val="FFFFFF"/>
      </a:lt1>
      <a:dk2>
        <a:srgbClr val="431407"/>
      </a:dk2>
      <a:lt2>
        <a:srgbClr val="FFEDD5"/>
      </a:lt2>
      <a:accent1>
        <a:srgbClr val="EA580C"/>
      </a:accent1>
      <a:accent2>
        <a:srgbClr val="FDBA74"/>
      </a:accent2>
      <a:accent3>
        <a:srgbClr val="2563EB"/>
      </a:accent3>
      <a:accent4>
        <a:srgbClr val="DC2626"/>
      </a:accent4>
      <a:accent5>
        <a:srgbClr val="7C3AED"/>
      </a:accent5>
      <a:accent6>
        <a:srgbClr val="16A34A"/>
      </a:accent6>
      <a:hlink>
        <a:srgbClr val="C2410C"/>
      </a:hlink>
      <a:folHlink>
        <a:srgbClr val="7E22CE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Structure Orange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83f1970fff204e7e" /><Relationship Type="http://schemas.openxmlformats.org/officeDocument/2006/relationships/notesSlide" Target="/ppt/notesSlides/notesSlide1.xml" Id="R21b9e74cd5db4066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9199089b869e465c" /><Relationship Type="http://schemas.openxmlformats.org/officeDocument/2006/relationships/chart" Target="/ppt/slides/charts/chart1.xml" Id="Rcf290e11cc35443d" /><Relationship Type="http://schemas.openxmlformats.org/officeDocument/2006/relationships/image" Target="/ppt/media/image.jpeg" Id="R201b48d07ca44500" /><Relationship Type="http://schemas.openxmlformats.org/officeDocument/2006/relationships/hyperlink" Target="https://example.com/customer" TargetMode="External" Id="Rdf736ddbf021428f" /><Relationship Type="http://schemas.openxmlformats.org/officeDocument/2006/relationships/notesSlide" Target="/ppt/notesSlides/notesSlide2.xml" Id="R9967b96b49654a22" 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image" Target="../media/image.jpe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7.xml"/><Relationship Id="rId4" Type="http://schemas.openxmlformats.org/officeDocument/2006/relationships/chart" Target="charts/chart2.xml"/><Relationship Id="rId5" Type="http://schemas.openxmlformats.org/officeDocument/2006/relationships/hyperlink" Target="https://example.com/customer" TargetMode="External"/></Relationships>
</file>

<file path=ppt/slides/_rels/slide4.xml.rels><?xml version='1.0' encoding='UTF-8' standalone='yes'?>
<Relationships xmlns="http://schemas.openxmlformats.org/package/2006/relationships"><Relationship Id="R857a1d4d46bb459a" Type="http://schemas.openxmlformats.org/officeDocument/2006/relationships/slideLayout" Target="../slideLayouts/slideLayout4.xml"/><Relationship Id="Redc7bc22c7954dad" Type="http://schemas.openxmlformats.org/officeDocument/2006/relationships/notesSlide" Target="../notesSlides/notesSlide3.xml"/></Relationships>
</file>

<file path=ppt/slides/_rels/slide5.xml.rels><?xml version='1.0' encoding='UTF-8' standalone='yes'?>
<Relationships xmlns="http://schemas.openxmlformats.org/package/2006/relationships"><Relationship Id="R282409525b184e3d" Type="http://schemas.openxmlformats.org/officeDocument/2006/relationships/notesSlide" Target="../notesSlides/notesSlide4.xml"/><Relationship Id="R6bd25a7411384525" Type="http://schemas.openxmlformats.org/officeDocument/2006/relationships/slideLayout" Target="../slideLayouts/slideLayout3.xml"/></Relationships>
</file>

<file path=ppt/slides/_rels/slide6.xml.rels><?xml version='1.0' encoding='UTF-8' standalone='yes'?>
<Relationships xmlns="http://schemas.openxmlformats.org/package/2006/relationships"><Relationship Id="R149ef1f8225e4c07" Type="http://schemas.openxmlformats.org/officeDocument/2006/relationships/slideLayout" Target="../slideLayouts/slideLayout3.xml"/><Relationship Id="R8e3c39ddaaef4a38" Type="http://schemas.openxmlformats.org/officeDocument/2006/relationships/image" Target="../media/image.png"/><Relationship Id="Rbfa7344450eb4539" Type="http://schemas.openxmlformats.org/officeDocument/2006/relationships/notesSlide" Target="../notesSlides/notesSlide5.xml"/><Relationship Id="rId1" Type="http://schemas.openxmlformats.org/officeDocument/2006/relationships/comments" Target="../comments/comment1.xml"/><Relationship Id="rId2" Type="http://schemas.openxmlformats.org/officeDocument/2006/relationships/image" Target="../media/unreferenced-relationship.png"/></Relationships>
</file>

<file path=ppt/slides/_rels/slide7.xml.rels><?xml version='1.0' encoding='UTF-8' standalone='yes'?>
<Relationships xmlns="http://schemas.openxmlformats.org/package/2006/relationships"><Relationship Id="R6b40c4083acc4e41" Type="http://schemas.openxmlformats.org/officeDocument/2006/relationships/notesSlide" Target="../notesSlides/notesSlide6.xml"/><Relationship Id="Rb065d9f0eef843e5" Type="http://schemas.openxmlformats.org/officeDocument/2006/relationships/slideLayout" Target="../slideLayouts/slideLayout3.xml"/></Relationships>
</file>

<file path=ppt/slides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../embeddings/clone-target.xlsx"/></Relationships>
</file>

<file path=ppt/slides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../embeddings/clone-target1.xlsx"/></Relationships>
</file>

<file path=ppt/slides/charts/chart1.xml><?xml version="1.0" encoding="utf-8"?>
<c:chartSpace xmlns:c="http://schemas.openxmlformats.org/drawingml/2006/chart">
  <c:lang val="en-US"/>
  <c:chart>
    <c:plotArea>
      <c:barChart>
        <c:barDir val="col"/>
        <c:grouping val="clustered"/>
        <c:varyColors val="0"/>
        <c:ser>
          <c:idx val="0"/>
          <c:order val="0"/>
          <c:tx>
            <c:v>ARR</c:v>
          </c:tx>
          <c:spPr>
            <a:solidFill xmlns:a="http://schemas.openxmlformats.org/drawingml/2006/main">
              <a:schemeClr val="accent1"/>
            </a:solidFill>
          </c:spPr>
          <c:cat>
            <c:strLit>
              <c:ptCount val="4"/>
              <c:pt idx="0">
                <c:v>Q1</c:v>
              </c:pt>
              <c:pt idx="1">
                <c:v>Q2</c:v>
              </c:pt>
              <c:pt idx="2">
                <c:v>Q3</c:v>
              </c:pt>
              <c:pt idx="3">
                <c:v>Q4</c:v>
              </c:pt>
            </c:strLit>
          </c:cat>
          <c:val>
            <c:numLit>
              <c:formatCode>General</c:formatCode>
              <c:ptCount val="4"/>
              <c:pt idx="0">
                <c:v>14</c:v>
              </c:pt>
              <c:pt idx="1">
                <c:v>18</c:v>
              </c:pt>
              <c:pt idx="2">
                <c:v>23</c:v>
              </c:pt>
              <c:pt idx="3">
                <c:v>30</c:v>
              </c:pt>
            </c:numLit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975">
                  <a:solidFill>
                    <a:schemeClr val="tx1"/>
                  </a:solidFill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54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chemeClr val="lt2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975">
                <a:solidFill>
                  <a:schemeClr val="tx2"/>
                </a:solidFill>
              </a:defRPr>
            </a:pPr>
          </a:p>
        </c:txPr>
        <c:crossAx val="48672768"/>
        <c:lblAlgn val="ctr"/>
        <c:lblOffset val="100"/>
        <c:noMultiLvlLbl val="0"/>
      </c:catAx>
      <c:valAx>
        <c:axId val="48672768"/>
        <c:scaling>
          <c:orientation val="minMax"/>
        </c:scaling>
        <c:delete val="0"/>
        <c:axPos val="l"/>
        <c:majorGridlines>
          <c:spPr>
            <a:ln xmlns:a="http://schemas.openxmlformats.org/drawingml/2006/main" w="9525">
              <a:solidFill>
                <a:schemeClr val="lt2"/>
              </a:solidFill>
              <a:prstDash val="solid"/>
            </a:ln>
          </c:spPr>
        </c:majorGridlines>
        <c:numFmt formatCode="General"/>
        <c:majorTickMark val="none"/>
        <c:minorTickMark val="none"/>
        <c:spPr>
          <a:ln xmlns:a="http://schemas.openxmlformats.org/drawingml/2006/main" w="0">
            <a:noFill/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>
                <a:solidFill>
                  <a:srgbClr val="666666"/>
                </a:solidFill>
              </a:defRPr>
            </a:pPr>
          </a:p>
        </c:txPr>
        <c:crossAx val="48650112"/>
        <c:crossBetween val="between"/>
      </c:valAx>
    </c:plotArea>
    <c:plotVisOnly val="1"/>
  </c:chart>
  <c:spPr>
    <a:solidFill xmlns:a="http://schemas.openxmlformats.org/drawingml/2006/main">
      <a:schemeClr val="bg1"/>
    </a:solidFill>
    <a:ln xmlns:a="http://schemas.openxmlformats.org/drawingml/2006/main" w="0">
      <a:noFill/>
      <a:prstDash val="solid"/>
    </a:ln>
  </c:spPr>
  <c:externalData xmlns:ns1="http://schemas.openxmlformats.org/officeDocument/2006/relationships" ns1:id="rId1">
    <c:autoUpdate val="0"/>
  </c:externalData>
</c:chartSpace>
</file>

<file path=ppt/slides/charts/chart2.xml><?xml version="1.0" encoding="utf-8"?>
<c:chartSpace xmlns:c="http://schemas.openxmlformats.org/drawingml/2006/chart">
  <c:lang val="en-US"/>
  <c:chart>
    <c:plotArea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Clone</c:v>
                </c:pt>
              </c:strCache>
            </c:strRef>
          </c:tx>
          <c:spPr>
            <a:solidFill xmlns:a="http://schemas.openxmlformats.org/drawingml/2006/main">
              <a:schemeClr val="accent1"/>
            </a:solidFill>
          </c:spPr>
          <c:cat>
            <c:strRef>
              <c:f>Sheet1!$A$2:$A$5</c:f>
              <c:strCache>
                <c:ptCount val="4"/>
                <c:pt idx="0">
                  <c:v>Q1</c:v>
                </c:pt>
                <c:pt idx="1">
                  <c:v>Q2</c:v>
                </c:pt>
                <c:pt idx="2">
                  <c:v>Q3</c:v>
                </c:pt>
                <c:pt idx="3">
                  <c:v>Q4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16</c:v>
                </c:pt>
                <c:pt idx="1">
                  <c:v>22</c:v>
                </c:pt>
                <c:pt idx="2">
                  <c:v>29</c:v>
                </c:pt>
                <c:pt idx="3">
                  <c:v>38</c:v>
                </c:pt>
              </c:numCache>
            </c:numRef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975">
                  <a:solidFill>
                    <a:schemeClr val="tx1"/>
                  </a:solidFill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54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chemeClr val="lt2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975">
                <a:solidFill>
                  <a:schemeClr val="tx2"/>
                </a:solidFill>
              </a:defRPr>
            </a:pPr>
          </a:p>
        </c:txPr>
        <c:crossAx val="48672768"/>
        <c:lblAlgn val="ctr"/>
        <c:lblOffset val="100"/>
        <c:noMultiLvlLbl val="0"/>
      </c:catAx>
      <c:valAx>
        <c:axId val="48672768"/>
        <c:scaling>
          <c:orientation val="minMax"/>
        </c:scaling>
        <c:delete val="0"/>
        <c:axPos val="l"/>
        <c:majorGridlines>
          <c:spPr>
            <a:ln xmlns:a="http://schemas.openxmlformats.org/drawingml/2006/main" w="9525">
              <a:solidFill>
                <a:schemeClr val="lt2"/>
              </a:solidFill>
              <a:prstDash val="solid"/>
            </a:ln>
          </c:spPr>
        </c:majorGridlines>
        <c:numFmt formatCode="General"/>
        <c:majorTickMark val="none"/>
        <c:minorTickMark val="none"/>
        <c:spPr>
          <a:ln xmlns:a="http://schemas.openxmlformats.org/drawingml/2006/main" w="0">
            <a:noFill/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>
                <a:solidFill>
                  <a:srgbClr val="666666"/>
                </a:solidFill>
              </a:defRPr>
            </a:pPr>
          </a:p>
        </c:txPr>
        <c:crossAx val="48650112"/>
        <c:crossBetween val="between"/>
      </c:valAx>
    </c:plotArea>
    <c:plotVisOnly val="1"/>
  </c:chart>
  <c:spPr>
    <a:solidFill xmlns:a="http://schemas.openxmlformats.org/drawingml/2006/main">
      <a:schemeClr val="bg1"/>
    </a:solidFill>
    <a:ln xmlns:a="http://schemas.openxmlformats.org/drawingml/2006/main" w="0">
      <a:noFill/>
      <a:prstDash val="solid"/>
    </a:ln>
  </c:spPr>
  <c:externalData xmlns:ns1="http://schemas.openxmlformats.org/officeDocument/2006/relationships" ns1:id="rId1">
    <c:autoUpdate val="0"/>
  </c:externalData>
</c:chartSpace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chemeClr val="bg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Cover Supertitle">
            <a:extLst xmlns:a="http://schemas.openxmlformats.org/drawingml/2006/main">
              <a:ext uri="{FF2B5EF4-FFF2-40B4-BE49-F238E27FC236}">
                <a16:creationId xmlns:a16="http://schemas.microsoft.com/office/drawing/2014/main" id="{60F471D1-E451-4B99-BA4F-75CD289F00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57200"/>
            <a:ext cx="4762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800">
                <a:solidFill>
                  <a:schemeClr val="accent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>
                <a:solidFill>
                  <a:schemeClr val="accent1"/>
                </a:solidFill>
                <a:latin typeface="Helvetica Neue"/>
                <a:ea typeface="Helvetica Neue"/>
                <a:cs typeface="Helvetica Neue"/>
              </a:rPr>
              <a:t>HELIX SYSTEMS</a:t>
            </a:r>
          </a:p>
        </p:txBody>
      </p:sp>
      <p:sp>
        <p:nvSpPr>
          <p:cNvPr id="2" name="Cover Headline">
            <a:extLst xmlns:a="http://schemas.openxmlformats.org/drawingml/2006/main">
              <a:ext uri="{FF2B5EF4-FFF2-40B4-BE49-F238E27FC236}">
                <a16:creationId xmlns:a16="http://schemas.microsoft.com/office/drawing/2014/main" id="{9D3A639A-147A-4CC4-98C4-911B733B42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400300"/>
            <a:ext cx="9906000" cy="1905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b">
            <a:noAutofit/>
          </a:bodyPr>
          <a:lstStyle xmlns:a="http://schemas.openxmlformats.org/drawingml/2006/main"/>
          <a:p xmlns:a="http://schemas.openxmlformats.org/drawingml/2006/main">
            <a:pPr>
              <a:defRPr sz="4800" b="0">
                <a:solidFill>
                  <a:schemeClr val="tx1"/>
                </a:solidFill>
                <a:latin typeface="Helvetica Neue"/>
                <a:ea typeface="Helvetica Neue"/>
                <a:cs typeface="Helvetica Neue"/>
              </a:defRPr>
            </a:pPr>
            <a:r>
              <a:rPr sz="4800" b="0">
                <a:solidFill>
                  <a:schemeClr val="tx1"/>
                </a:solidFill>
                <a:latin typeface="Helvetica Neue"/>
                <a:ea typeface="Helvetica Neue"/>
                <a:cs typeface="Helvetica Neue"/>
              </a:rPr>
              <a:t>Structure survives only when every list agrees</a:t>
            </a:r>
          </a:p>
        </p:txBody>
      </p:sp>
      <p:sp>
        <p:nvSpPr>
          <p:cNvPr id="3" name="Cover Subtitle">
            <a:extLst xmlns:a="http://schemas.openxmlformats.org/drawingml/2006/main">
              <a:ext uri="{FF2B5EF4-FFF2-40B4-BE49-F238E27FC236}">
                <a16:creationId xmlns:a16="http://schemas.microsoft.com/office/drawing/2014/main" id="{6278B05C-57FC-4C0A-BE28-23A5F4CE22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010150"/>
            <a:ext cx="74295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800">
                <a:solidFill>
                  <a:schemeClr val="tx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>
                <a:solidFill>
                  <a:schemeClr val="tx2"/>
                </a:solidFill>
                <a:latin typeface="Helvetica Neue"/>
                <a:ea typeface="Helvetica Neue"/>
                <a:cs typeface="Helvetica Neue"/>
              </a:rPr>
              <a:t>Clone, lifecycle, rebind, sections, shows, and scrub</a:t>
            </a:r>
          </a:p>
        </p:txBody>
      </p:sp>
    </p:spTree>
    <p:extLst>
      <p:ext uri="{BB962C8B-B14F-4D97-AF65-F5344CB8AC3E}">
        <p14:creationId xmlns:p14="http://schemas.microsoft.com/office/powerpoint/2010/main" val="608966034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chemeClr val="bg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 Title 2">
            <a:extLst xmlns:a="http://schemas.openxmlformats.org/drawingml/2006/main">
              <a:ext uri="{FF2B5EF4-FFF2-40B4-BE49-F238E27FC236}">
                <a16:creationId xmlns:a16="http://schemas.microsoft.com/office/drawing/2014/main" id="{024C44E9-EB4D-4E62-A2F5-D6DDCD01E8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23850"/>
            <a:ext cx="106680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850" b="0">
                <a:solidFill>
                  <a:schemeClr val="tx1"/>
                </a:solidFill>
                <a:latin typeface="Helvetica Neue"/>
                <a:ea typeface="Helvetica Neue"/>
                <a:cs typeface="Helvetica Neue"/>
              </a:defRPr>
            </a:pPr>
            <a:r>
              <a:rPr sz="2850" b="0">
                <a:solidFill>
                  <a:schemeClr val="tx1"/>
                </a:solidFill>
                <a:latin typeface="Helvetica Neue"/>
                <a:ea typeface="Helvetica Neue"/>
                <a:cs typeface="Helvetica Neue"/>
              </a:rPr>
              <a:t>Quarterly forecast</a:t>
            </a:r>
          </a:p>
        </p:txBody>
      </p:sp>
      <p:sp>
        <p:nvSpPr>
          <p:cNvPr id="2" name="Page 2">
            <a:extLst xmlns:a="http://schemas.openxmlformats.org/drawingml/2006/main">
              <a:ext uri="{FF2B5EF4-FFF2-40B4-BE49-F238E27FC236}">
                <a16:creationId xmlns:a16="http://schemas.microsoft.com/office/drawing/2014/main" id="{D4D6A472-63DA-485A-BC28-D699200AAE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229350"/>
            <a:ext cx="495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r">
              <a:defRPr sz="975">
                <a:solidFill>
                  <a:schemeClr val="tx2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>
                <a:solidFill>
                  <a:schemeClr val="tx2"/>
                </a:solidFill>
                <a:latin typeface="Helvetica Neue"/>
                <a:ea typeface="Helvetica Neue"/>
                <a:cs typeface="Helvetica Neue"/>
              </a:rPr>
              <a:t>2</a:t>
            </a:r>
          </a:p>
        </p:txBody>
      </p:sp>
      <p:graphicFrame>
        <p:nvGraphicFramePr>
          <p:cNvPr id="8" name="Scenario forecast"/>
          <p:cNvGraphicFramePr/>
          <p:nvPr/>
        </p:nvGraphicFramePr>
        <p:xfrm>
          <a:off xmlns:a="http://schemas.openxmlformats.org/drawingml/2006/main" x="476250" y="1428750"/>
          <a:ext xmlns:a="http://schemas.openxmlformats.org/drawingml/2006/main" cx="5810250" cy="400050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cf290e11cc35443d"/>
          </a:graphicData>
        </a:graphic>
      </p:graphicFrame>
      <p:pic>
        <p:nvPicPr>
          <p:cNvPr id="9" name="Clone Shared Media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01b48d07ca44500"/>
          <a:srcRect xmlns:a="http://schemas.openxmlformats.org/drawingml/2006/main" l="0" t="12121" r="0" b="12121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239000" y="1571625"/>
            <a:ext cx="3143250" cy="2381250"/>
          </a:xfrm>
          <a:prstGeom xmlns:a="http://schemas.openxmlformats.org/drawingml/2006/main" prst="ellipse">
            <a:avLst/>
          </a:prstGeom>
        </p:spPr>
      </p:pic>
      <p:sp>
        <p:nvSpPr>
          <p:cNvPr id="5" name="Clone Hyperlink">
            <a:extLst xmlns:a="http://schemas.openxmlformats.org/drawingml/2006/main">
              <a:ext uri="{FF2B5EF4-FFF2-40B4-BE49-F238E27FC236}">
                <a16:creationId xmlns:a16="http://schemas.microsoft.com/office/drawing/2014/main" id="{0757F760-29A5-4D43-8D07-5F35BFCF22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4476750"/>
            <a:ext cx="3429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800">
                <a:solidFill>
                  <a:schemeClr val="tx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u="sng">
                <a:solidFill>
                  <a:schemeClr val="tx1"/>
                </a:solidFill>
                <a:latin typeface="Helvetica Neue"/>
                <a:ea typeface="Helvetica Neue"/>
                <a:cs typeface="Helvetica Neue"/>
                <a:hlinkClick xmlns:r="http://schemas.openxmlformats.org/officeDocument/2006/relationships" r:id="Rdf736ddbf021428f"/>
              </a:rPr>
              <a:t>Customer evidence</a:t>
            </a:r>
          </a:p>
        </p:txBody>
      </p:sp>
    </p:spTree>
    <p:extLst>
      <p:ext uri="{BB962C8B-B14F-4D97-AF65-F5344CB8AC3E}">
        <p14:creationId xmlns:p14="http://schemas.microsoft.com/office/powerpoint/2010/main" val="446999067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chemeClr val="bg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 Title 2">
            <a:extLst xmlns:a="http://schemas.openxmlformats.org/drawingml/2006/main">
              <a:ext uri="{FF2B5EF4-FFF2-40B4-BE49-F238E27FC236}">
                <a16:creationId xmlns:a16="http://schemas.microsoft.com/office/drawing/2014/main" id="{50EEBAF2-25D0-49C2-A8F3-9646DB9F14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23850"/>
            <a:ext cx="106680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850" b="0">
                <a:solidFill>
                  <a:schemeClr val="tx1"/>
                </a:solidFill>
                <a:latin typeface="Helvetica Neue"/>
                <a:ea typeface="Helvetica Neue"/>
                <a:cs typeface="Helvetica Neue"/>
              </a:defRPr>
            </a:pPr>
            <a:r>
              <a:rPr sz="2850" b="0">
                <a:solidFill>
                  <a:schemeClr val="tx1"/>
                </a:solidFill>
                <a:latin typeface="Helvetica Neue"/>
                <a:ea typeface="Helvetica Neue"/>
                <a:cs typeface="Helvetica Neue"/>
              </a:rPr>
              <a:t>Quarterly forecast — COPY</a:t>
            </a:r>
          </a:p>
        </p:txBody>
      </p:sp>
      <p:sp>
        <p:nvSpPr>
          <p:cNvPr id="2" name="Page 2">
            <a:extLst xmlns:a="http://schemas.openxmlformats.org/drawingml/2006/main">
              <a:ext uri="{FF2B5EF4-FFF2-40B4-BE49-F238E27FC236}">
                <a16:creationId xmlns:a16="http://schemas.microsoft.com/office/drawing/2014/main" id="{5F16CB16-FEEB-44AB-9AD6-C4FE8E14CE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229350"/>
            <a:ext cx="495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r">
              <a:defRPr sz="975">
                <a:solidFill>
                  <a:schemeClr val="tx2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>
                <a:solidFill>
                  <a:schemeClr val="tx2"/>
                </a:solidFill>
                <a:latin typeface="Helvetica Neue"/>
                <a:ea typeface="Helvetica Neue"/>
                <a:cs typeface="Helvetica Neue"/>
              </a:rPr>
              <a:t>2</a:t>
            </a:r>
          </a:p>
        </p:txBody>
      </p:sp>
      <p:graphicFrame>
        <p:nvGraphicFramePr>
          <p:cNvPr id="8" name="Scenario forecast"/>
          <p:cNvGraphicFramePr/>
          <p:nvPr/>
        </p:nvGraphicFramePr>
        <p:xfrm>
          <a:off xmlns:a="http://schemas.openxmlformats.org/drawingml/2006/main" x="476250" y="1428750"/>
          <a:ext xmlns:a="http://schemas.openxmlformats.org/drawingml/2006/main" cx="5810250" cy="400050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Id4"/>
          </a:graphicData>
        </a:graphic>
      </p:graphicFrame>
      <p:pic>
        <p:nvPicPr>
          <p:cNvPr id="9" name="Clone Shared Media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Id1"/>
          <a:srcRect xmlns:a="http://schemas.openxmlformats.org/drawingml/2006/main" l="0" t="12121" r="0" b="12121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239000" y="1571625"/>
            <a:ext cx="3143250" cy="2381250"/>
          </a:xfrm>
          <a:prstGeom xmlns:a="http://schemas.openxmlformats.org/drawingml/2006/main" prst="ellipse">
            <a:avLst/>
          </a:prstGeom>
        </p:spPr>
      </p:pic>
      <p:sp>
        <p:nvSpPr>
          <p:cNvPr id="5" name="Clone Hyperlink">
            <a:extLst xmlns:a="http://schemas.openxmlformats.org/drawingml/2006/main">
              <a:ext uri="{FF2B5EF4-FFF2-40B4-BE49-F238E27FC236}">
                <a16:creationId xmlns:a16="http://schemas.microsoft.com/office/drawing/2014/main" id="{A4EEF606-F51F-49E7-8316-B9619D091A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4476750"/>
            <a:ext cx="3429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800">
                <a:solidFill>
                  <a:schemeClr val="tx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u="sng">
                <a:solidFill>
                  <a:schemeClr val="tx1"/>
                </a:solidFill>
                <a:latin typeface="Helvetica Neue"/>
                <a:ea typeface="Helvetica Neue"/>
                <a:cs typeface="Helvetica Neue"/>
                <a:hlinkClick xmlns:r="http://schemas.openxmlformats.org/officeDocument/2006/relationships" r:id="rId5"/>
              </a:rPr>
              <a:t>Customer evidence</a:t>
            </a:r>
          </a:p>
        </p:txBody>
      </p:sp>
    </p:spTree>
    <p:extLst>
      <p:ext uri="{BB962C8B-B14F-4D97-AF65-F5344CB8AC3E}">
        <p14:creationId xmlns:p14="http://schemas.microsoft.com/office/powerpoint/2010/main" val="446999067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chemeClr val="bg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 Title 3">
            <a:extLst xmlns:a="http://schemas.openxmlformats.org/drawingml/2006/main">
              <a:ext uri="{FF2B5EF4-FFF2-40B4-BE49-F238E27FC236}">
                <a16:creationId xmlns:a16="http://schemas.microsoft.com/office/drawing/2014/main" id="{5301BAA9-F879-4C0C-AF4B-2AA556DB2A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23850"/>
            <a:ext cx="106680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850" b="0">
                <a:solidFill>
                  <a:schemeClr val="tx1"/>
                </a:solidFill>
                <a:latin typeface="Helvetica Neue"/>
                <a:ea typeface="Helvetica Neue"/>
                <a:cs typeface="Helvetica Neue"/>
              </a:defRPr>
            </a:pPr>
            <a:r>
              <a:rPr sz="2850" b="0">
                <a:solidFill>
                  <a:schemeClr val="tx1"/>
                </a:solidFill>
                <a:latin typeface="Helvetica Neue"/>
                <a:ea typeface="Helvetica Neue"/>
                <a:cs typeface="Helvetica Neue"/>
              </a:rPr>
              <a:t>Rebind must reconcile mismatched placeholders</a:t>
            </a:r>
          </a:p>
        </p:txBody>
      </p:sp>
      <p:sp>
        <p:nvSpPr>
          <p:cNvPr id="2" name="Page 3">
            <a:extLst xmlns:a="http://schemas.openxmlformats.org/drawingml/2006/main">
              <a:ext uri="{FF2B5EF4-FFF2-40B4-BE49-F238E27FC236}">
                <a16:creationId xmlns:a16="http://schemas.microsoft.com/office/drawing/2014/main" id="{E02D65DC-F389-48B7-9857-8DC4E272D4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229350"/>
            <a:ext cx="495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r">
              <a:defRPr sz="975">
                <a:solidFill>
                  <a:schemeClr val="tx2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>
                <a:solidFill>
                  <a:schemeClr val="tx2"/>
                </a:solidFill>
                <a:latin typeface="Helvetica Neue"/>
                <a:ea typeface="Helvetica Neue"/>
                <a:cs typeface="Helvetica Neue"/>
              </a:rPr>
              <a:t>3</a:t>
            </a:r>
          </a:p>
        </p:txBody>
      </p:sp>
      <p:sp>
        <p:nvSpPr>
          <p:cNvPr id="3" name="Rebind Orphan">
            <a:extLst xmlns:a="http://schemas.openxmlformats.org/drawingml/2006/main">
              <a:ext uri="{FF2B5EF4-FFF2-40B4-BE49-F238E27FC236}">
                <a16:creationId xmlns:a16="http://schemas.microsoft.com/office/drawing/2014/main" id="{C8FBA966-ACDD-43BD-82E1-A8AAC32CA8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714500"/>
            <a:ext cx="4953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250">
                <a:solidFill>
                  <a:schemeClr val="accent1"/>
                </a:solidFill>
                <a:latin typeface="Helvetica Neue"/>
                <a:ea typeface="Helvetica Neue"/>
                <a:cs typeface="Helvetica Neue"/>
              </a:defRPr>
            </a:pPr>
            <a:r>
              <a:rPr sz="2250">
                <a:solidFill>
                  <a:schemeClr val="accent1"/>
                </a:solidFill>
                <a:latin typeface="Helvetica Neue"/>
                <a:ea typeface="Helvetica Neue"/>
                <a:cs typeface="Helvetica Neue"/>
              </a:rPr>
              <a:t>ORPHAN ACME SUBTITLE</a:t>
            </a:r>
          </a:p>
        </p:txBody>
      </p:sp>
      <p:sp>
        <p:nvSpPr>
          <p:cNvPr id="4" name="Rebind Styled Body">
            <a:extLst xmlns:a="http://schemas.openxmlformats.org/drawingml/2006/main">
              <a:ext uri="{FF2B5EF4-FFF2-40B4-BE49-F238E27FC236}">
                <a16:creationId xmlns:a16="http://schemas.microsoft.com/office/drawing/2014/main" id="{32D29FB5-1078-410E-B8E7-4FAD226B37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2000250"/>
            <a:ext cx="4286250" cy="133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950">
                <a:solidFill>
                  <a:schemeClr val="tx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950">
                <a:solidFill>
                  <a:schemeClr val="tx1"/>
                </a:solidFill>
                <a:latin typeface="Helvetica Neue"/>
                <a:ea typeface="Helvetica Neue"/>
                <a:cs typeface="Helvetica Neue"/>
              </a:rPr>
              <a:t>Preserve effective geometry and color transforms.</a:t>
            </a:r>
          </a:p>
        </p:txBody>
      </p:sp>
    </p:spTree>
    <p:extLst>
      <p:ext uri="{BB962C8B-B14F-4D97-AF65-F5344CB8AC3E}">
        <p14:creationId xmlns:p14="http://schemas.microsoft.com/office/powerpoint/2010/main" val="461113674"/>
      </p:ext>
    </p:extLst>
  </p:cSld>
</p:sld>
</file>

<file path=ppt/slides/slide5.xml><?xml version="1.0" encoding="utf-8"?>
<p:sld xmlns:p="http://schemas.openxmlformats.org/presentationml/2006/main" show="0">
  <p:cSld>
    <p:bg>
      <p:bgPr>
        <a:solidFill xmlns:a="http://schemas.openxmlformats.org/drawingml/2006/main">
          <a:schemeClr val="bg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 Title 4">
            <a:extLst xmlns:a="http://schemas.openxmlformats.org/drawingml/2006/main">
              <a:ext uri="{FF2B5EF4-FFF2-40B4-BE49-F238E27FC236}">
                <a16:creationId xmlns:a16="http://schemas.microsoft.com/office/drawing/2014/main" id="{78F81BB9-B8C8-40A8-9FD7-37EB04D14F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23850"/>
            <a:ext cx="106680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850" b="0">
                <a:solidFill>
                  <a:schemeClr val="tx1"/>
                </a:solidFill>
                <a:latin typeface="Helvetica Neue"/>
                <a:ea typeface="Helvetica Neue"/>
                <a:cs typeface="Helvetica Neue"/>
              </a:defRPr>
            </a:pPr>
            <a:r>
              <a:rPr sz="2850" b="0">
                <a:solidFill>
                  <a:schemeClr val="tx1"/>
                </a:solidFill>
                <a:latin typeface="Helvetica Neue"/>
                <a:ea typeface="Helvetica Neue"/>
                <a:cs typeface="Helvetica Neue"/>
              </a:rPr>
              <a:t>Hidden risk slide</a:t>
            </a:r>
          </a:p>
        </p:txBody>
      </p:sp>
      <p:sp>
        <p:nvSpPr>
          <p:cNvPr id="2" name="Page 4">
            <a:extLst xmlns:a="http://schemas.openxmlformats.org/drawingml/2006/main">
              <a:ext uri="{FF2B5EF4-FFF2-40B4-BE49-F238E27FC236}">
                <a16:creationId xmlns:a16="http://schemas.microsoft.com/office/drawing/2014/main" id="{C65CADB7-996C-48DA-A31C-A26E645978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229350"/>
            <a:ext cx="495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r">
              <a:defRPr sz="975">
                <a:solidFill>
                  <a:schemeClr val="tx2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>
                <a:solidFill>
                  <a:schemeClr val="tx2"/>
                </a:solidFill>
                <a:latin typeface="Helvetica Neue"/>
                <a:ea typeface="Helvetica Neue"/>
                <a:cs typeface="Helvetica Neue"/>
              </a:rPr>
              <a:t>4</a:t>
            </a:r>
          </a:p>
        </p:txBody>
      </p:sp>
      <p:sp>
        <p:nvSpPr>
          <p:cNvPr id="3" name="Hidden Privacy">
            <a:extLst xmlns:a="http://schemas.openxmlformats.org/drawingml/2006/main">
              <a:ext uri="{FF2B5EF4-FFF2-40B4-BE49-F238E27FC236}">
                <a16:creationId xmlns:a16="http://schemas.microsoft.com/office/drawing/2014/main" id="{BCE920F1-2F4A-41DF-B7C2-8A9E2FE9E4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809750"/>
            <a:ext cx="857250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100">
                <a:solidFill>
                  <a:schemeClr val="tx1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>
                <a:solidFill>
                  <a:schemeClr val="tx1"/>
                </a:solidFill>
                <a:latin typeface="Helvetica Neue"/>
                <a:ea typeface="Helvetica Neue"/>
                <a:cs typeface="Helvetica Neue"/>
              </a:rPr>
              <a:t>This slide is hidden and should be removable without dangling section/show IDs.</a:t>
            </a:r>
          </a:p>
        </p:txBody>
      </p:sp>
    </p:spTree>
    <p:extLst>
      <p:ext uri="{BB962C8B-B14F-4D97-AF65-F5344CB8AC3E}">
        <p14:creationId xmlns:p14="http://schemas.microsoft.com/office/powerpoint/2010/main" val="685393233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chemeClr val="bg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 Title 5">
            <a:extLst xmlns:a="http://schemas.openxmlformats.org/drawingml/2006/main">
              <a:ext uri="{FF2B5EF4-FFF2-40B4-BE49-F238E27FC236}">
                <a16:creationId xmlns:a16="http://schemas.microsoft.com/office/drawing/2014/main" id="{E6E45CE4-3796-4BE1-91D3-132BAD331B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23850"/>
            <a:ext cx="106680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850" b="0">
                <a:solidFill>
                  <a:schemeClr val="tx1"/>
                </a:solidFill>
                <a:latin typeface="Helvetica Neue"/>
                <a:ea typeface="Helvetica Neue"/>
                <a:cs typeface="Helvetica Neue"/>
              </a:defRPr>
            </a:pPr>
            <a:r>
              <a:rPr sz="2850" b="0">
                <a:solidFill>
                  <a:schemeClr val="tx1"/>
                </a:solidFill>
                <a:latin typeface="Helvetica Neue"/>
                <a:ea typeface="Helvetica Neue"/>
                <a:cs typeface="Helvetica Neue"/>
              </a:rPr>
              <a:t>Scrub targets remain outside visible content</a:t>
            </a:r>
          </a:p>
        </p:txBody>
      </p:sp>
      <p:sp>
        <p:nvSpPr>
          <p:cNvPr id="2" name="Page 5">
            <a:extLst xmlns:a="http://schemas.openxmlformats.org/drawingml/2006/main">
              <a:ext uri="{FF2B5EF4-FFF2-40B4-BE49-F238E27FC236}">
                <a16:creationId xmlns:a16="http://schemas.microsoft.com/office/drawing/2014/main" id="{188D52F2-6145-47AD-95D0-98F6FDAA19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229350"/>
            <a:ext cx="495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r">
              <a:defRPr sz="975">
                <a:solidFill>
                  <a:schemeClr val="tx2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>
                <a:solidFill>
                  <a:schemeClr val="tx2"/>
                </a:solidFill>
                <a:latin typeface="Helvetica Neue"/>
                <a:ea typeface="Helvetica Neue"/>
                <a:cs typeface="Helvetica Neue"/>
              </a:rPr>
              <a:t>5</a:t>
            </a:r>
          </a:p>
        </p:txBody>
      </p:sp>
      <p:sp>
        <p:nvSpPr>
          <p:cNvPr id="3" name="Scrub Visible Control">
            <a:extLst xmlns:a="http://schemas.openxmlformats.org/drawingml/2006/main">
              <a:ext uri="{FF2B5EF4-FFF2-40B4-BE49-F238E27FC236}">
                <a16:creationId xmlns:a16="http://schemas.microsoft.com/office/drawing/2014/main" id="{F5E9334A-2293-41E1-BE42-583F522799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619250"/>
            <a:ext cx="7620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250">
                <a:solidFill>
                  <a:schemeClr val="tx1"/>
                </a:solidFill>
                <a:latin typeface="Helvetica Neue"/>
                <a:ea typeface="Helvetica Neue"/>
                <a:cs typeface="Helvetica Neue"/>
              </a:defRPr>
            </a:pPr>
            <a:r>
              <a:rPr sz="2250">
                <a:solidFill>
                  <a:schemeClr val="tx1"/>
                </a:solidFill>
                <a:latin typeface="Helvetica Neue"/>
                <a:ea typeface="Helvetica Neue"/>
                <a:cs typeface="Helvetica Neue"/>
              </a:rPr>
              <a:t>Visible control text must survive every scrub toggle.</a:t>
            </a:r>
          </a:p>
        </p:txBody>
      </p:sp>
      <p:sp>
        <p:nvSpPr>
          <p:cNvPr id="4" name="Comment Anchor">
            <a:extLst xmlns:a="http://schemas.openxmlformats.org/drawingml/2006/main">
              <a:ext uri="{FF2B5EF4-FFF2-40B4-BE49-F238E27FC236}">
                <a16:creationId xmlns:a16="http://schemas.microsoft.com/office/drawing/2014/main" id="{63B11E60-C626-4418-9528-472EEB07C7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238500"/>
            <a:ext cx="5715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950">
                <a:solidFill>
                  <a:schemeClr val="tx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950">
                <a:solidFill>
                  <a:schemeClr val="tx1"/>
                </a:solidFill>
                <a:latin typeface="Helvetica Neue"/>
                <a:ea typeface="Helvetica Neue"/>
                <a:cs typeface="Helvetica Neue"/>
              </a:rPr>
              <a:t>Commented review sentence</a:t>
            </a:r>
          </a:p>
        </p:txBody>
      </p:sp>
      <p:pic>
        <p:nvPicPr>
          <p:cNvPr id="10" name="Referenced Scrub Media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e3c39ddaaef4a38"/>
          <a:stretch xmlns:a="http://schemas.openxmlformats.org/drawingml/2006/main"/>
        </p:blipFill>
        <p:spPr>
          <a:xfrm xmlns:a="http://schemas.openxmlformats.org/drawingml/2006/main">
            <a:off x="8123846" y="1714500"/>
            <a:ext cx="1468808" cy="20955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51903294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chemeClr val="bg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 Title 6">
            <a:extLst xmlns:a="http://schemas.openxmlformats.org/drawingml/2006/main">
              <a:ext uri="{FF2B5EF4-FFF2-40B4-BE49-F238E27FC236}">
                <a16:creationId xmlns:a16="http://schemas.microsoft.com/office/drawing/2014/main" id="{250A6A42-4D1D-46D4-BD5A-544D988C24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23850"/>
            <a:ext cx="106680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850" b="0">
                <a:solidFill>
                  <a:schemeClr val="tx1"/>
                </a:solidFill>
                <a:latin typeface="Helvetica Neue"/>
                <a:ea typeface="Helvetica Neue"/>
                <a:cs typeface="Helvetica Neue"/>
              </a:defRPr>
            </a:pPr>
            <a:r>
              <a:rPr sz="2850" b="0">
                <a:solidFill>
                  <a:schemeClr val="tx1"/>
                </a:solidFill>
                <a:latin typeface="Helvetica Neue"/>
                <a:ea typeface="Helvetica Neue"/>
                <a:cs typeface="Helvetica Neue"/>
              </a:rPr>
              <a:t>Sections and custom shows point outside the rel graph</a:t>
            </a:r>
          </a:p>
        </p:txBody>
      </p:sp>
      <p:sp>
        <p:nvSpPr>
          <p:cNvPr id="2" name="Page 6">
            <a:extLst xmlns:a="http://schemas.openxmlformats.org/drawingml/2006/main">
              <a:ext uri="{FF2B5EF4-FFF2-40B4-BE49-F238E27FC236}">
                <a16:creationId xmlns:a16="http://schemas.microsoft.com/office/drawing/2014/main" id="{E83C9CAE-B235-491A-A548-680C15F4B6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229350"/>
            <a:ext cx="495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r">
              <a:defRPr sz="975">
                <a:solidFill>
                  <a:schemeClr val="tx2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>
                <a:solidFill>
                  <a:schemeClr val="tx2"/>
                </a:solidFill>
                <a:latin typeface="Helvetica Neue"/>
                <a:ea typeface="Helvetica Neue"/>
                <a:cs typeface="Helvetica Neue"/>
              </a:rPr>
              <a:t>6</a:t>
            </a:r>
          </a:p>
        </p:txBody>
      </p:sp>
      <p:sp>
        <p:nvSpPr>
          <p:cNvPr id="3" name="Section Member">
            <a:extLst xmlns:a="http://schemas.openxmlformats.org/drawingml/2006/main">
              <a:ext uri="{FF2B5EF4-FFF2-40B4-BE49-F238E27FC236}">
                <a16:creationId xmlns:a16="http://schemas.microsoft.com/office/drawing/2014/main" id="{6F2E811E-CB9D-414A-BB06-BFECC8EDFB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809750"/>
            <a:ext cx="809625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250">
                <a:solidFill>
                  <a:schemeClr val="tx1"/>
                </a:solidFill>
                <a:latin typeface="Helvetica Neue"/>
                <a:ea typeface="Helvetica Neue"/>
                <a:cs typeface="Helvetica Neue"/>
              </a:defRPr>
            </a:pPr>
            <a:r>
              <a:rPr sz="2250">
                <a:solidFill>
                  <a:schemeClr val="tx1"/>
                </a:solidFill>
                <a:latin typeface="Helvetica Neue"/>
                <a:ea typeface="Helvetica Neue"/>
                <a:cs typeface="Helvetica Neue"/>
              </a:rPr>
              <a:t>This slide belongs to Close and custom show Focus.</a:t>
            </a:r>
          </a:p>
        </p:txBody>
      </p:sp>
    </p:spTree>
    <p:extLst>
      <p:ext uri="{BB962C8B-B14F-4D97-AF65-F5344CB8AC3E}">
        <p14:creationId xmlns:p14="http://schemas.microsoft.com/office/powerpoint/2010/main" val="1345603751"/>
      </p:ext>
    </p:extLst>
  </p:cSld>
</p:sld>
</file>

<file path=ppt/theme/theme1.xml><?xml version="1.0" encoding="utf-8"?>
<a:theme xmlns:a="http://schemas.openxmlformats.org/drawingml/2006/main" name="ChatGPT">
  <a:themeElements>
    <a:clrScheme name="Structure Orange">
      <a:dk1>
        <a:srgbClr val="000000"/>
      </a:dk1>
      <a:lt1>
        <a:srgbClr val="FFFFFF"/>
      </a:lt1>
      <a:dk2>
        <a:srgbClr val="431407"/>
      </a:dk2>
      <a:lt2>
        <a:srgbClr val="FFEDD5"/>
      </a:lt2>
      <a:accent1>
        <a:srgbClr val="EA580C"/>
      </a:accent1>
      <a:accent2>
        <a:srgbClr val="FDBA74"/>
      </a:accent2>
      <a:accent3>
        <a:srgbClr val="2563EB"/>
      </a:accent3>
      <a:accent4>
        <a:srgbClr val="DC2626"/>
      </a:accent4>
      <a:accent5>
        <a:srgbClr val="7C3AED"/>
      </a:accent5>
      <a:accent6>
        <a:srgbClr val="16A34A"/>
      </a:accent6>
      <a:hlink>
        <a:srgbClr val="C2410C"/>
      </a:hlink>
      <a:folHlink>
        <a:srgbClr val="7E22CE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Structure Orange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Paper Fixture Author</dc:creator>
  <lastModifiedBy>Paper Fixture Editor</lastModifiedBy>
  <dc:title>Presentation</dc:title>
  <dcterms:created xsi:type="dcterms:W3CDTF">2026-07-13T09:28:59.1560000Z</dcterms:created>
  <dcterms:modified xsi:type="dcterms:W3CDTF">2026-07-13T09:28:59.1560000Z</dcterms:modified>
  <dc:description>Sensitive deck-level fixture comment</dc:description>
</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FixtureClass">
    <vt:lpwstr>scrub-gauntlet</vt:lpwstr>
  </property>
</Properties>
</file>