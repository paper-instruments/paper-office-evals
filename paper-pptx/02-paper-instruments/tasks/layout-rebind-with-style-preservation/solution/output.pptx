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theme/theme2.xml" ContentType="application/vnd.openxmlformats-officedocument.theme+xml"/>
  <Override PartName="/ppt/slideMasters/theme/theme3.xml" ContentType="application/vnd.openxmlformats-officedocument.theme+xml"/>
  <Override PartName="/ppt/slides/charts/chart1.xml" ContentType="application/vnd.openxmlformats-officedocument.drawingml.char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e1e4c9780784bd6" Type="http://schemas.openxmlformats.org/package/2006/relationships/metadata/core-properties" Target="docProps/core.xml"/><Relationship Id="R58a8f721e9ea4ae9" Type="http://schemas.openxmlformats.org/officeDocument/2006/relationships/extended-properties" Target="docProps/app.xml"/><Relationship Id="Ra50ffd3f153a40bd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25701405064823"/>
    <p:sldMasterId xmlns:r="http://schemas.openxmlformats.org/officeDocument/2006/relationships" id="2147483650" r:id="Re7d3b819b3984f7d"/>
  </p:sldMasterIdLst>
  <p:notesMasterIdLst>
    <p:notesMasterId xmlns:r="http://schemas.openxmlformats.org/officeDocument/2006/relationships" r:id="R37959f8b47184078"/>
  </p:notesMasterIdLst>
  <p:sldIdLst>
    <p:sldId xmlns:r="http://schemas.openxmlformats.org/officeDocument/2006/relationships" id="256" r:id="R39a61a0c9d04457d"/>
    <p:sldId xmlns:r="http://schemas.openxmlformats.org/officeDocument/2006/relationships" id="257" r:id="R9b6ed7cba850411f"/>
    <p:sldId xmlns:r="http://schemas.openxmlformats.org/officeDocument/2006/relationships" id="258" r:id="Re4ba5af11b7f43e9"/>
    <p:sldId xmlns:r="http://schemas.openxmlformats.org/officeDocument/2006/relationships" id="259" r:id="Rbf86c03b9f7249ae"/>
    <p:sldId xmlns:r="http://schemas.openxmlformats.org/officeDocument/2006/relationships" id="260" r:id="Ra5673239885c472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9f41be39c3945ce" Type="http://schemas.openxmlformats.org/officeDocument/2006/relationships/presProps" Target="presProps.xml"/><Relationship Id="R357f2341c14543c6" Type="http://schemas.openxmlformats.org/officeDocument/2006/relationships/tableStyles" Target="tableStyles.xml"/><Relationship Id="R37959f8b47184078" Type="http://schemas.openxmlformats.org/officeDocument/2006/relationships/notesMaster" Target="notesMasters/notesMaster1.xml"/><Relationship Id="R39a61a0c9d04457d" Type="http://schemas.openxmlformats.org/officeDocument/2006/relationships/slide" Target="slides/slide1.xml"/><Relationship Id="R3e221f2b5bdc4449" Type="http://schemas.openxmlformats.org/officeDocument/2006/relationships/theme" Target="theme/theme1.xml"/><Relationship Id="R9b6ed7cba850411f" Type="http://schemas.openxmlformats.org/officeDocument/2006/relationships/slide" Target="slides/slide2.xml"/><Relationship Id="Ra5673239885c4728" Type="http://schemas.openxmlformats.org/officeDocument/2006/relationships/slide" Target="slides/slide5.xml"/><Relationship Id="Rad25701405064823" Type="http://schemas.openxmlformats.org/officeDocument/2006/relationships/slideMaster" Target="slideMasters/slideMaster1.xml"/><Relationship Id="Rbf86c03b9f7249ae" Type="http://schemas.openxmlformats.org/officeDocument/2006/relationships/slide" Target="slides/slide4.xml"/><Relationship Id="Re4ba5af11b7f43e9" Type="http://schemas.openxmlformats.org/officeDocument/2006/relationships/slide" Target="slides/slide3.xml"/><Relationship Id="Re7d3b819b3984f7d" Type="http://schemas.openxmlformats.org/officeDocument/2006/relationships/slideMaster" Target="slideMasters/slideMaster2.xml"/></Relationships>
</file>

<file path=ppt/notesMasters/_rels/notesMaster1.xml.rels><?xml version='1.0' encoding='UTF-8' standalone='yes'?>
<Relationships xmlns="http://schemas.openxmlformats.org/package/2006/relationships"><Relationship Id="R0eb803e8bd0a4240" Type="http://schemas.openxmlformats.org/officeDocument/2006/relationships/theme" Target="theme/theme4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Perception Blue">
      <a:dk1>
        <a:srgbClr val="000000"/>
      </a:dk1>
      <a:lt1>
        <a:srgbClr val="FFFFFF"/>
      </a:lt1>
      <a:dk2>
        <a:srgbClr val="1F2937"/>
      </a:dk2>
      <a:lt2>
        <a:srgbClr val="E5E7EB"/>
      </a:lt2>
      <a:accent1>
        <a:srgbClr val="3D8DFF"/>
      </a:accent1>
      <a:accent2>
        <a:srgbClr val="6DCBF4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erception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4b45110f86204ce1" Type="http://schemas.openxmlformats.org/officeDocument/2006/relationships/slide" Target="../slides/slide1.xml"/><Relationship Id="Rab129fba0505415c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0a8f73fc64914cc2" Type="http://schemas.openxmlformats.org/officeDocument/2006/relationships/notesMaster" Target="../notesMasters/notesMaster1.xml"/><Relationship Id="R95a6e19a9aa64199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ad50e11dedba45f5" Type="http://schemas.openxmlformats.org/officeDocument/2006/relationships/notesMaster" Target="../notesMasters/notesMaster1.xml"/><Relationship Id="Radd572df909948c3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7d820bff36994361" Type="http://schemas.openxmlformats.org/officeDocument/2006/relationships/notesMaster" Target="../notesMasters/notesMaster1.xml"/><Relationship Id="Rbd9ffca89d7e41d4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0458be2938c4c43" Type="http://schemas.openxmlformats.org/officeDocument/2006/relationships/notesMaster" Target="../notesMasters/notesMaster1.xml"/><Relationship Id="Ra3186c7da0be4869" Type="http://schemas.openxmlformats.org/officeDocument/2006/relationships/slide" Target="../slides/slide5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9905ba5dc1b64159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b72ecf31198c47fc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c2b4978b60ba4f5e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8f15b68964ca4aec" Type="http://schemas.openxmlformats.org/officeDocument/2006/relationships/slideMaster" Target="../slideMasters/slideMaster2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Perception Blue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9BABAC06-4517-4261-AE15-11D2146A06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57200" y="4762500"/>
            <a:ext cx="6667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Subtitle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Perception Blue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CB1366A2-AE46-46C3-AE6F-D8129751B6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371600"/>
            <a:ext cx="11277600" cy="476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342900" indent="-171450">
              <a:buFont typeface="Arial"/>
              <a:buChar char="•"/>
              <a:defRPr sz="2600">
                <a:solidFill>
                  <a:schemeClr val="accent1"/>
                </a:solidFill>
                <a:latin typeface="Trebuchet MS"/>
              </a:defRPr>
            </a:lvl1pPr>
          </a:lstStyle>
          <a:p xmlns:a="http://schemas.openxmlformats.org/drawingml/2006/main">
            <a:r>
              <a:t>Body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House Blu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038E2BD6-22FC-41A0-964C-1E2BC6611A53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71500" y="4953000"/>
            <a:ext cx="5143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defRPr sz="2200">
                <a:solidFill>
                  <a:srgbClr val="1F4E79"/>
                </a:solidFill>
                <a:latin typeface="Aptos"/>
              </a:defRPr>
            </a:lvl1pPr>
          </a:lstStyle>
          <a:p xmlns:a="http://schemas.openxmlformats.org/drawingml/2006/main">
            <a:r>
              <a:t>Orphan bait</a:t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3ff6330b25e64d3a" Type="http://schemas.openxmlformats.org/officeDocument/2006/relationships/theme" Target="theme/theme2.xml"/><Relationship Id="Rbbf542df05224b0b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496c7348cad94ecc" Type="http://schemas.openxmlformats.org/officeDocument/2006/relationships/theme" Target="theme/theme3.xml"/><Relationship Id="R5e393261c051411a" Type="http://schemas.openxmlformats.org/officeDocument/2006/relationships/slideLayout" Target="../slideLayouts/slideLayout4.xml"/><Relationship Id="R8291958fdd574c51" Type="http://schemas.openxmlformats.org/officeDocument/2006/relationships/slideLayout" Target="../slideLayouts/slideLayout2.xml"/><Relationship Id="Ra6d34c7e8d874fc1" Type="http://schemas.openxmlformats.org/officeDocument/2006/relationships/slideLayout" Target="../slideLayouts/slideLayout3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f542df05224b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Perception Blue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8291958fdd574c51"/>
    <p:sldLayoutId xmlns:r="http://schemas.openxmlformats.org/officeDocument/2006/relationships" id="2147483652" r:id="Ra6d34c7e8d874fc1"/>
    <p:sldLayoutId xmlns:r="http://schemas.openxmlformats.org/officeDocument/2006/relationships" id="2147483653" r:id="R5e393261c051411a"/>
  </p:sldLayoutIdLst>
</p:sldMaster>
</file>

<file path=ppt/slideMasters/theme/theme2.xml><?xml version="1.0" encoding="utf-8"?>
<a:theme xmlns:a="http://schemas.openxmlformats.org/drawingml/2006/main" name="ChatGPT">
  <a:themeElements>
    <a:clrScheme name="Perception Blue">
      <a:dk1>
        <a:srgbClr val="000000"/>
      </a:dk1>
      <a:lt1>
        <a:srgbClr val="FFFFFF"/>
      </a:lt1>
      <a:dk2>
        <a:srgbClr val="1F2937"/>
      </a:dk2>
      <a:lt2>
        <a:srgbClr val="E5E7EB"/>
      </a:lt2>
      <a:accent1>
        <a:srgbClr val="3D8DFF"/>
      </a:accent1>
      <a:accent2>
        <a:srgbClr val="6DCBF4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erception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Perception Blue">
      <a:dk1>
        <a:srgbClr val="000000"/>
      </a:dk1>
      <a:lt1>
        <a:srgbClr val="FFFFFF"/>
      </a:lt1>
      <a:dk2>
        <a:srgbClr val="1F2937"/>
      </a:dk2>
      <a:lt2>
        <a:srgbClr val="E5E7EB"/>
      </a:lt2>
      <a:accent1>
        <a:srgbClr val="3D8DFF"/>
      </a:accent1>
      <a:accent2>
        <a:srgbClr val="6DCBF4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erception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8debe44e345845d0" Type="http://schemas.openxmlformats.org/officeDocument/2006/relationships/notesSlide" Target="../notesSlides/notesSlide1.xml"/><Relationship Id="Rb878f1fbe2e240b3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159143cc9fe047ee" Type="http://schemas.openxmlformats.org/officeDocument/2006/relationships/notesSlide" Target="../notesSlides/notesSlide2.xml"/><Relationship Id="R2fdf80bf8cf0476a" Type="http://schemas.openxmlformats.org/officeDocument/2006/relationships/slideLayout" Target="../slideLayouts/slideLayout3.xml"/><Relationship Id="Rc8f4c6f8dc474ec9" Type="http://schemas.openxmlformats.org/officeDocument/2006/relationships/chart" Target="charts/chart1.xml"/></Relationships>
</file>

<file path=ppt/slides/_rels/slide3.xml.rels><?xml version='1.0' encoding='UTF-8' standalone='yes'?>
<Relationships xmlns="http://schemas.openxmlformats.org/package/2006/relationships"><Relationship Id="R66535d4d1ef2461c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1f9f5bd28c4c48b4" Type="http://schemas.openxmlformats.org/officeDocument/2006/relationships/slideLayout" Target="../slideLayouts/slideLayout4.xml"/><Relationship Id="Rc5573ca52ea247e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0d731fd93c6b4f7a" Type="http://schemas.openxmlformats.org/officeDocument/2006/relationships/notesSlide" Target="../notesSlides/notesSlide5.xml"/><Relationship Id="R8341e50aabaf402d" Type="http://schemas.openxmlformats.org/officeDocument/2006/relationships/image" Target="../media/image.png"/><Relationship Id="R8e08e9401ff94a45" Type="http://schemas.openxmlformats.org/officeDocument/2006/relationships/slideLayout" Target="../slideLayouts/slideLayout3.xml"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4</c:v>
              </c:pt>
              <c:pt idx="1">
                <c:v>6</c:v>
              </c:pt>
              <c:pt idx="2">
                <c:v>7</c:v>
              </c:pt>
              <c:pt idx="3">
                <c:v>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 Supertitle">
            <a:extLst xmlns:a="http://schemas.openxmlformats.org/drawingml/2006/main">
              <a:ext uri="{FF2B5EF4-FFF2-40B4-BE49-F238E27FC236}">
                <a16:creationId xmlns:a16="http://schemas.microsoft.com/office/drawing/2014/main" id="{B04EC655-2CA5-46DA-8048-E5EBF546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NORTHSTAR OPERATIONS</a:t>
            </a:r>
          </a:p>
        </p:txBody>
      </p:sp>
      <p:sp>
        <p:nvSpPr>
          <p:cNvPr id="2" name="Cover Headline">
            <a:extLst xmlns:a="http://schemas.openxmlformats.org/drawingml/2006/main">
              <a:ext uri="{FF2B5EF4-FFF2-40B4-BE49-F238E27FC236}">
                <a16:creationId xmlns:a16="http://schemas.microsoft.com/office/drawing/2014/main" id="{9FDAA9CE-E1E9-4930-9CAE-ECF74F88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990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480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Inspection should reveal the whole deck</a:t>
            </a:r>
          </a:p>
        </p:txBody>
      </p:sp>
      <p:sp>
        <p:nvSpPr>
          <p:cNvPr id="3" name="Cover Subtitle">
            <a:extLst xmlns:a="http://schemas.openxmlformats.org/drawingml/2006/main">
              <a:ext uri="{FF2B5EF4-FFF2-40B4-BE49-F238E27FC236}">
                <a16:creationId xmlns:a16="http://schemas.microsoft.com/office/drawing/2014/main" id="{27722239-0468-4007-9521-E1C2AA93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Adversarial perception and inheritance substrate</a:t>
            </a:r>
          </a:p>
        </p:txBody>
      </p:sp>
    </p:spTree>
    <p:extLst>
      <p:ext uri="{BB962C8B-B14F-4D97-AF65-F5344CB8AC3E}">
        <p14:creationId xmlns:p14="http://schemas.microsoft.com/office/powerpoint/2010/main" val="15309996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2">
            <a:extLst xmlns:a="http://schemas.openxmlformats.org/drawingml/2006/main">
              <a:ext uri="{FF2B5EF4-FFF2-40B4-BE49-F238E27FC236}">
                <a16:creationId xmlns:a16="http://schemas.microsoft.com/office/drawing/2014/main" id="{6AFE1569-8694-49A2-9BB3-40EB7301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ACME text hides inside nested structures</a:t>
            </a:r>
          </a:p>
        </p:txBody>
      </p:sp>
      <p:sp>
        <p:nvSpPr>
          <p:cNvPr id="2" name="Page 2">
            <a:extLst xmlns:a="http://schemas.openxmlformats.org/drawingml/2006/main">
              <a:ext uri="{FF2B5EF4-FFF2-40B4-BE49-F238E27FC236}">
                <a16:creationId xmlns:a16="http://schemas.microsoft.com/office/drawing/2014/main" id="{95B751CB-9365-4890-84EC-479A0EB6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Old account caption">
            <a:extLst xmlns:a="http://schemas.openxmlformats.org/drawingml/2006/main">
              <a:ext uri="{FF2B5EF4-FFF2-40B4-BE49-F238E27FC236}">
                <a16:creationId xmlns:a16="http://schemas.microsoft.com/office/drawing/2014/main" id="{0C5D9E20-FE5C-43EB-90E5-37F36ABE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Nested group container</a:t>
            </a:r>
          </a:p>
        </p:txBody>
      </p:sp>
      <p:graphicFrame>
        <p:nvGraphicFramePr>
          <p:cNvPr id="13" name="Perception Table"/>
          <p:cNvGraphicFramePr/>
          <p:nvPr/>
        </p:nvGraphicFramePr>
        <p:xfrm>
          <a:off xmlns:a="http://schemas.openxmlformats.org/drawingml/2006/main" x="5810250" y="1600200"/>
          <a:ext xmlns:a="http://schemas.openxmlformats.org/drawingml/2006/main" cx="5429250" cy="2095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1809750"/>
                <a:gridCol w="1809750"/>
              </a:tblGrid>
              <a:tr h="6985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Phrase</a:t>
                      </a:r>
                    </a:p>
                  </a:txBody>
                  <a:tcPr marL="91440" marR="91440" marT="45720" marB="4572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t>West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Mina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ACME table cell</a:t>
                      </a:r>
                    </a:p>
                  </a:txBody>
                  <a:tcPr marL="91440" marR="91440" marT="45720" marB="4572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t>East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Ravi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stable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14" name="Blind Chart"/>
          <p:cNvGraphicFramePr/>
          <p:nvPr/>
        </p:nvGraphicFramePr>
        <p:xfrm>
          <a:off xmlns:a="http://schemas.openxmlformats.org/drawingml/2006/main" x="5810250" y="4000500"/>
          <a:ext xmlns:a="http://schemas.openxmlformats.org/drawingml/2006/main" cx="542925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f4c6f8dc474ec9"/>
          </a:graphicData>
        </a:graphic>
      </p:graphicFrame>
      <p:grpSp>
        <p:nvGrpSpPr>
          <p:cNvPr id="15" name="Account diagram"/>
          <p:cNvGrpSpPr/>
          <p:nvPr/>
        </p:nvGrpSpPr>
        <p:grpSpPr>
          <ns1:xfrm xmlns:ns1="http://schemas.openxmlformats.org/drawingml/2006/main">
            <ns1:off x="0" y="0"/>
            <ns1:ext cx="12192000" cy="6858000"/>
            <ns1:chOff x="0" y="0"/>
            <ns1:chExt cx="12192000" cy="6858000"/>
          </ns1:xfrm>
        </p:grpSpPr>
        <p:grpSp>
          <p:nvGrpSpPr>
            <p:cNvPr id="16" name="Inner Inspection Group"/>
            <p:cNvGrpSpPr/>
            <p:nvPr/>
          </p:nvGrpSpPr>
          <p:grpSpPr>
            <ns1:xfrm xmlns:ns1="http://schemas.openxmlformats.org/drawingml/2006/main">
              <ns1:off x="0" y="0"/>
              <ns1:ext cx="12192000" cy="6858000"/>
              <ns1:chOff x="0" y="0"/>
              <ns1:chExt cx="12192000" cy="6858000"/>
            </ns1:xfrm>
          </p:grpSpPr>
          <p:sp>
            <p:nvSpPr>
              <p:cNvPr id="4" name="Account label">
                <a:extLst xmlns:a="http://schemas.openxmlformats.org/drawingml/2006/main">
                  <a:ext uri="{FF2B5EF4-FFF2-40B4-BE49-F238E27FC236}">
                    <a16:creationId xmlns:a16="http://schemas.microsoft.com/office/drawing/2014/main" id="{9DCC133E-BFF9-41A0-9A6E-54D728EDC58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266950"/>
                <a:ext cx="4000500" cy="704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lIns="0" tIns="0" rIns="0" bIns="0">
                <a:noAutofit/>
              </a:bodyPr>
              <a:lstStyle xmlns:a="http://schemas.openxmlformats.org/drawingml/2006/main"/>
              <a:p xmlns:a="http://schemas.openxmlformats.org/drawingml/2006/main">
                <a:pPr>
                  <a:defRPr sz="2250">
                    <a:solidFill>
                      <a:schemeClr val="tx1"/>
                    </a:solidFill>
                    <a:latin typeface="Helvetica Neue"/>
                    <a:ea typeface="Helvetica Neue"/>
                    <a:cs typeface="Helvetica Neue"/>
                  </a:defRPr>
                </a:pPr>
                <a:r>
                  <a:rPr sz="2250" b="1">
                    <a:solidFill>
                      <a:schemeClr val="tx1"/>
                    </a:solidFill>
                    <a:latin typeface="Helvetica Neue"/>
                    <a:ea typeface="Helvetica Neue"/>
                    <a:cs typeface="Helvetica Neue"/>
                  </a:rPr>
                  <a:t>ACME </a:t>
                </a:r>
                <a:r>
                  <a:rPr sz="2250">
                    <a:solidFill>
                      <a:schemeClr val="tx1"/>
                    </a:solidFill>
                    <a:latin typeface="Helvetica Neue"/>
                    <a:ea typeface="Helvetica Neue"/>
                    <a:cs typeface="Helvetica Neue"/>
                  </a:rPr>
                  <a:t>ARR</a:t>
                </a:r>
              </a:p>
            </p:txBody>
          </p:sp>
          <p:sp>
            <p:nvSpPr>
              <p:cNvPr id="5" name="Soft Break Field Target">
                <a:extLst xmlns:a="http://schemas.openxmlformats.org/drawingml/2006/main">
                  <a:ext uri="{FF2B5EF4-FFF2-40B4-BE49-F238E27FC236}">
                    <a16:creationId xmlns:a16="http://schemas.microsoft.com/office/drawing/2014/main" id="{7FF07F4B-EBD3-4B86-88C9-2DC463D14FB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219450"/>
                <a:ext cx="4000500" cy="1009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lIns="0" tIns="0" rIns="0" bIns="0">
                <a:noAutofit/>
              </a:bodyPr>
              <a:lstStyle xmlns:a="http://schemas.openxmlformats.org/drawingml/2006/main"/>
              <a:p xmlns:a="http://schemas.openxmlformats.org/drawingml/2006/main">
                <a:pPr>
                  <a:defRPr sz="1650">
                    <a:solidFill>
                      <a:schemeClr val="tx1"/>
                    </a:solidFill>
                    <a:latin typeface="Helvetica Neue"/>
                    <a:ea typeface="Helvetica Neue"/>
                    <a:cs typeface="Helvetica Neue"/>
                  </a:defRPr>
                </a:pPr>
                <a:r>
                  <a:rPr sz="1650">
                    <a:solidFill>
                      <a:schemeClr val="tx1"/>
                    </a:solidFill>
                    <a:latin typeface="Helvetica Neue"/>
                    <a:ea typeface="Helvetica Neue"/>
                    <a:cs typeface="Helvetica Neue"/>
                  </a:rPr>
                  <a:t>Forecast owner</a:t>
                </a:r>
              </a:p>
              <a:p xmlns:a="http://schemas.openxmlformats.org/drawingml/2006/main">
                <a:pPr>
                  <a:defRPr sz="1650">
                    <a:solidFill>
                      <a:schemeClr val="tx1"/>
                    </a:solidFill>
                    <a:latin typeface="Helvetica Neue"/>
                    <a:ea typeface="Helvetica Neue"/>
                    <a:cs typeface="Helvetica Neue"/>
                  </a:defRPr>
                </a:pPr>
                <a:r>
                  <a:rPr sz="1650">
                    <a:solidFill>
                      <a:schemeClr val="tx1"/>
                    </a:solidFill>
                    <a:latin typeface="Helvetica Neue"/>
                    <a:ea typeface="Helvetica Neue"/>
                    <a:cs typeface="Helvetica Neue"/>
                  </a:rPr>
                  <a:t>Finance</a:t>
                </a:r>
              </a:p>
              <ns0:p xmlns:ns0="http://schemas.openxmlformats.org/drawingml/2006/main">
                <ns0:r>
                  <ns0:rPr lang="en-US" sz="1800"/>
                  <ns0:t xml:space="preserve">Field cache: </ns0:t>
                </ns0:r>
                <ns0:fld id="{00000000-1111-4222-8333-000000000019}" type="datetime3">
                  <ns0:rPr lang="en-US" sz="1800"/>
                  <ns0:t>Q4</ns0:t>
                </ns0:fld>
                <ns0:br>
                  <ns0:rPr lang="en-US" sz="1800"/>
                </ns0:br>
                <ns0:r>
                  <ns0:rPr lang="en-US" sz="1800"/>
                  <ns0:t>after soft break</ns0:t>
                </ns0:r>
              </ns0:p>
            </p:txBody>
          </p:sp>
        </p:grpSp>
      </p:grpSp>
    </p:spTree>
    <p:extLst>
      <p:ext uri="{BB962C8B-B14F-4D97-AF65-F5344CB8AC3E}">
        <p14:creationId xmlns:p14="http://schemas.microsoft.com/office/powerpoint/2010/main" val="18393501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3">
            <a:extLst xmlns:a="http://schemas.openxmlformats.org/drawingml/2006/main">
              <a:ext uri="{FF2B5EF4-FFF2-40B4-BE49-F238E27FC236}">
                <a16:creationId xmlns:a16="http://schemas.microsoft.com/office/drawing/2014/main" id="{F8036672-8A64-4B6B-80E0-0DA5737C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Market outlook</a:t>
            </a:r>
          </a:p>
        </p:txBody>
      </p:sp>
      <p:sp>
        <p:nvSpPr>
          <p:cNvPr id="2" name="Page 3">
            <a:extLst xmlns:a="http://schemas.openxmlformats.org/drawingml/2006/main">
              <a:ext uri="{FF2B5EF4-FFF2-40B4-BE49-F238E27FC236}">
                <a16:creationId xmlns:a16="http://schemas.microsoft.com/office/drawing/2014/main" id="{A7B42228-1C6F-4D00-B699-5D71F674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Market summary">
            <a:extLst xmlns:a="http://schemas.openxmlformats.org/drawingml/2006/main">
              <a:ext uri="{FF2B5EF4-FFF2-40B4-BE49-F238E27FC236}">
                <a16:creationId xmlns:a16="http://schemas.microsoft.com/office/drawing/2014/main" id="{26C84312-4C9A-4435-8126-EB408C93030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71500" y="160020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/>
            </a:pPr>
            <a:r>
              <a:rPr/>
              <a:t>This body intentionally has no local font size or color after post-processing.</a:t>
            </a:r>
          </a:p>
        </p:txBody>
      </p:sp>
      <p:sp>
        <p:nvSpPr>
          <p:cNvPr id="4" name="Color Transform Target">
            <a:extLst xmlns:a="http://schemas.openxmlformats.org/drawingml/2006/main">
              <a:ext uri="{FF2B5EF4-FFF2-40B4-BE49-F238E27FC236}">
                <a16:creationId xmlns:a16="http://schemas.microsoft.com/office/drawing/2014/main" id="{5F3E934D-8C77-4182-816F-C3E3D8C4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0020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chemeClr val="accent1">
                    <a:lumMod val="65000"/>
                    <a:lumOff val="25000"/>
                  </a:schemeClr>
                </a:solidFill>
                <a:latin typeface="Helvetica Neue"/>
                <a:ea typeface="Helvetica Neue"/>
                <a:cs typeface="Helvetica Neue"/>
              </a:rPr>
              <a:t>Theme accent with luminosity transform</a:t>
            </a:r>
          </a:p>
        </p:txBody>
      </p:sp>
      <p:sp>
        <p:nvSpPr>
          <p:cNvPr id="5" name="East Asian Unresolved">
            <a:extLst xmlns:a="http://schemas.openxmlformats.org/drawingml/2006/main">
              <a:ext uri="{FF2B5EF4-FFF2-40B4-BE49-F238E27FC236}">
                <a16:creationId xmlns:a16="http://schemas.microsoft.com/office/drawing/2014/main" id="{CF053AE4-70A0-4726-B75B-1C7A7B36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chemeClr val="tx1"/>
                </a:solidFill>
                <a:latin typeface="Helvetica Neue"/>
                <a:cs typeface="Helvetica Neue"/>
                <a:ea typeface="+mn-ea"/>
              </a:rPr>
              <a:t>東京 forecast</a:t>
            </a:r>
          </a:p>
        </p:txBody>
      </p:sp>
      <p:sp>
        <p:nvSpPr>
          <p:cNvPr id="6" name="Gradient Unresolved">
            <a:extLst xmlns:a="http://schemas.openxmlformats.org/drawingml/2006/main">
              <a:ext uri="{FF2B5EF4-FFF2-40B4-BE49-F238E27FC236}">
                <a16:creationId xmlns:a16="http://schemas.microsoft.com/office/drawing/2014/main" id="{7C1966F1-AF46-4326-ABEB-3314F24B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gradFill rotWithShape="1">
                  <a:gsLst>
                    <a:gs pos="0">
                      <a:srgbClr val="7C3AED"/>
                    </a:gs>
                    <a:gs pos="100000">
                      <a:srgbClr val="3D8DFF"/>
                    </a:gs>
                  </a:gsLst>
                  <a:lin ang="5400000" scaled="1"/>
                </a:gradFill>
                <a:latin typeface="Helvetica Neue"/>
                <a:ea typeface="Helvetica Neue"/>
                <a:cs typeface="Helvetica Neue"/>
              </a:rPr>
              <a:t>Gradient style refusal bait</a:t>
            </a:r>
          </a:p>
        </p:txBody>
      </p:sp>
    </p:spTree>
    <p:extLst>
      <p:ext uri="{BB962C8B-B14F-4D97-AF65-F5344CB8AC3E}">
        <p14:creationId xmlns:p14="http://schemas.microsoft.com/office/powerpoint/2010/main" val="6138673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4">
            <a:extLst xmlns:a="http://schemas.openxmlformats.org/drawingml/2006/main">
              <a:ext uri="{FF2B5EF4-FFF2-40B4-BE49-F238E27FC236}">
                <a16:creationId xmlns:a16="http://schemas.microsoft.com/office/drawing/2014/main" id="{F4E14975-2CCC-49B1-A4E3-0BFB0D30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Regional outlook</a:t>
            </a:r>
          </a:p>
        </p:txBody>
      </p:sp>
      <p:sp>
        <p:nvSpPr>
          <p:cNvPr id="2" name="Page 4">
            <a:extLst xmlns:a="http://schemas.openxmlformats.org/drawingml/2006/main">
              <a:ext uri="{FF2B5EF4-FFF2-40B4-BE49-F238E27FC236}">
                <a16:creationId xmlns:a16="http://schemas.microsoft.com/office/drawing/2014/main" id="{F1C59ACB-1BA1-419C-8E7A-FE2A254A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Orphan Subtitle Field">
            <a:extLst xmlns:a="http://schemas.openxmlformats.org/drawingml/2006/main">
              <a:ext uri="{FF2B5EF4-FFF2-40B4-BE49-F238E27FC236}">
                <a16:creationId xmlns:a16="http://schemas.microsoft.com/office/drawing/2014/main" id="{E8567403-72FE-4528-A5F5-D71A09E8A9E0}"/>
              </a:ext>
            </a:extLst>
          </p:cNvPr>
          <p:cNvSpPr>
            <a:spLocks xmlns:a="http://schemas.openxmlformats.org/drawingml/2006/main" noGrp="1"/>
          </p:cNvSpPr>
          <p:nvPr>
            <p:ph type="subTitle" idx="77"/>
          </p:nvPr>
        </p:nvSpPr>
        <p:spPr>
          <a:xfrm xmlns:a="http://schemas.openxmlformats.org/drawingml/2006/main">
            <a:off x="571500" y="17145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ORPHAN SUBTITLE FIELD</a:t>
            </a:r>
          </a:p>
        </p:txBody>
      </p:sp>
      <p:sp>
        <p:nvSpPr>
          <p:cNvPr id="4" name="Rebind Body">
            <a:extLst xmlns:a="http://schemas.openxmlformats.org/drawingml/2006/main">
              <a:ext uri="{FF2B5EF4-FFF2-40B4-BE49-F238E27FC236}">
                <a16:creationId xmlns:a16="http://schemas.microsoft.com/office/drawing/2014/main" id="{E5DAF8EE-81F1-426D-8B72-0C07525165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667500" y="1981200"/>
            <a:ext cx="438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Auto-match must fall back from idx to type/family.</a:t>
            </a:r>
          </a:p>
        </p:txBody>
      </p:sp>
    </p:spTree>
    <p:extLst>
      <p:ext uri="{BB962C8B-B14F-4D97-AF65-F5344CB8AC3E}">
        <p14:creationId xmlns:p14="http://schemas.microsoft.com/office/powerpoint/2010/main" val="6701109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5">
            <a:extLst xmlns:a="http://schemas.openxmlformats.org/drawingml/2006/main">
              <a:ext uri="{FF2B5EF4-FFF2-40B4-BE49-F238E27FC236}">
                <a16:creationId xmlns:a16="http://schemas.microsoft.com/office/drawing/2014/main" id="{8F661E8E-23A6-42C4-9702-E91D4F5C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Names are convenient until they are ambiguous</a:t>
            </a:r>
          </a:p>
        </p:txBody>
      </p:sp>
      <p:sp>
        <p:nvSpPr>
          <p:cNvPr id="2" name="Page 5">
            <a:extLst xmlns:a="http://schemas.openxmlformats.org/drawingml/2006/main">
              <a:ext uri="{FF2B5EF4-FFF2-40B4-BE49-F238E27FC236}">
                <a16:creationId xmlns:a16="http://schemas.microsoft.com/office/drawing/2014/main" id="{4E5F8165-19CA-4F07-B658-53E75FA6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" name="Route label">
            <a:extLst xmlns:a="http://schemas.openxmlformats.org/drawingml/2006/main">
              <a:ext uri="{FF2B5EF4-FFF2-40B4-BE49-F238E27FC236}">
                <a16:creationId xmlns:a16="http://schemas.microsoft.com/office/drawing/2014/main" id="{861C4DB5-C312-4ED1-B0CE-D8615856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ACME duplicate one</a:t>
            </a:r>
          </a:p>
        </p:txBody>
      </p:sp>
      <p:sp>
        <p:nvSpPr>
          <p:cNvPr id="4" name="Route label">
            <a:extLst xmlns:a="http://schemas.openxmlformats.org/drawingml/2006/main">
              <a:ext uri="{FF2B5EF4-FFF2-40B4-BE49-F238E27FC236}">
                <a16:creationId xmlns:a16="http://schemas.microsoft.com/office/drawing/2014/main" id="{C0380E3D-FC68-4B5F-A80C-A71857CA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ACME duplicate two</a:t>
            </a:r>
          </a:p>
        </p:txBody>
      </p:sp>
      <p:pic>
        <p:nvPicPr>
          <p:cNvPr id="10" name="Route labe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41e50aabaf402d"/>
          <a:srcRect xmlns:a="http://schemas.openxmlformats.org/drawingml/2006/main" l="0" t="24688" r="0" b="246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714500"/>
            <a:ext cx="3429000" cy="2476500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</p:spTree>
    <p:extLst>
      <p:ext uri="{BB962C8B-B14F-4D97-AF65-F5344CB8AC3E}">
        <p14:creationId xmlns:p14="http://schemas.microsoft.com/office/powerpoint/2010/main" val="906362986"/>
      </p:ext>
    </p:extLst>
  </p:cSld>
</p:sld>
</file>

<file path=ppt/theme/theme1.xml><?xml version="1.0" encoding="utf-8"?>
<a:theme xmlns:a="http://schemas.openxmlformats.org/drawingml/2006/main" name="ChatGPT">
  <a:themeElements>
    <a:clrScheme name="Perception Blue">
      <a:dk1>
        <a:srgbClr val="000000"/>
      </a:dk1>
      <a:lt1>
        <a:srgbClr val="FFFFFF"/>
      </a:lt1>
      <a:dk2>
        <a:srgbClr val="1F2937"/>
      </a:dk2>
      <a:lt2>
        <a:srgbClr val="E5E7EB"/>
      </a:lt2>
      <a:accent1>
        <a:srgbClr val="3D8DFF"/>
      </a:accent1>
      <a:accent2>
        <a:srgbClr val="6DCBF4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erception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2026-07-13T09:28:58.6530000Z</dcterms:created>
  <dcterms:modified xsi:type="dcterms:W3CDTF">2026-07-13T09:28:58.6530000Z</dcterms:modified>
</coreProperties>
</file>