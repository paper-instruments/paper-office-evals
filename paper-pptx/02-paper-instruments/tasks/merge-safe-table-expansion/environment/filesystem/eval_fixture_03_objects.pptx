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sz="1400"/>
              <a:t>Values are forecast pipeline in millions; retain the North subregion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243746"/>
                </a:solidFill>
                <a:latin typeface="Arial"/>
              </a:rPr>
              <a:t>Regional forecast</a:t>
            </a:r>
          </a:p>
        </p:txBody>
      </p:sp>
      <p:graphicFrame>
        <p:nvGraphicFramePr>
          <p:cNvPr id="3" name="Regional forecast table"/>
          <p:cNvGraphicFramePr>
            <a:graphicFrameLocks noGrp="1"/>
          </p:cNvGraphicFramePr>
          <p:nvPr/>
        </p:nvGraphicFramePr>
        <p:xfrm>
          <a:off x="594360" y="1417320"/>
          <a:ext cx="9144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502920">
                <a:tc gridSpan="5"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rPr b="1">
                          <a:solidFill>
                            <a:srgbClr val="006B5E"/>
                          </a:solidFill>
                        </a:rPr>
                        <a:t>Rolling regional forecast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Region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FY26 Q1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FY26 Q2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FY26 Q3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Arial"/>
                        </a:defRPr>
                      </a:pPr>
                      <a:r>
                        <a:t>FY26 Q4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</a:tr>
              <a:tr h="502920">
                <a:tc rowSpan="2"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</a:tr>
              <a:tr h="502920">
                <a:tc vMerge="1"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marL="73152" marR="82296"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marL="73152" marR="82296">
                    <a:solidFill>
                      <a:srgbClr val="D8ED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Northstar Planning</dc:creator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