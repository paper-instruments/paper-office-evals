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Opening" id="{00000001-1111-4111-8111-000000000001}">
          <ns0:sldIdLst>
            <ns0:sldId id="256"/>
          </ns0:sldIdLst>
        </ns0:section>
        <ns0:section name="Close" id="{00000002-1111-4111-8111-000000000002}">
          <ns0:sldIdLst>
            <ns0:sldId id="257"/>
            <ns0:sldId id="258"/>
          </ns0:sldIdLst>
        </ns0:section>
        <ns0:section name="Close" id="{00000003-1111-4111-8111-000000000003}">
          <ns0:sldIdLst>
            <ns0:sldId id="259"/>
            <ns0:sldId id="260"/>
            <ns0:sldId id="261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Financial summary briefing remains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Keep the partner pipeline discussion separate from committed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ou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ou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4"/>
          </p:nvPr>
        </p:nvSpPr>
        <p:spPr>
          <a:xfrm>
            <a:off x="640080" y="1463040"/>
            <a:ext cx="6858000" cy="15087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8"/>
          </p:nvPr>
        </p:nvSpPr>
        <p:spPr>
          <a:xfrm>
            <a:off x="8229600" y="1463040"/>
            <a:ext cx="2743200" cy="15087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Northstar business review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September leadership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Operations decisions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Close the service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Regional results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North and South remain on plan.</a:t>
            </a:r>
          </a:p>
        </p:txBody>
      </p:sp>
      <p:graphicFrame>
        <p:nvGraphicFramePr>
          <p:cNvPr id="4" name="Regional pipeline"/>
          <p:cNvGraphicFramePr>
            <a:graphicFrameLocks noGrp="1"/>
          </p:cNvGraphicFramePr>
          <p:nvPr/>
        </p:nvGraphicFramePr>
        <p:xfrm>
          <a:off x="640080" y="3474720"/>
          <a:ext cx="6400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Financial summary</a:t>
            </a:r>
          </a:p>
        </p:txBody>
      </p:sp>
      <p:sp>
        <p:nvSpPr>
          <p:cNvPr id="3" name="Main narrative"/>
          <p:cNvSpPr>
            <a:spLocks noGrp="1"/>
          </p:cNvSpPr>
          <p:nvPr>
            <p:ph idx="4" sz="half"/>
          </p:nvPr>
        </p:nvSpPr>
        <p:spPr/>
        <p:txBody>
          <a:bodyPr/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Revenue remains on plan.</a:t>
            </a:r>
          </a:p>
          <a:p>
            <a:r>
              <a:rPr sz="2200">
                <a:solidFill>
                  <a:srgbClr val="243746"/>
                </a:solidFill>
                <a:latin typeface="Arial"/>
              </a:rPr>
              <a:t>Margin is within guidance.</a:t>
            </a:r>
          </a:p>
        </p:txBody>
      </p:sp>
      <p:sp>
        <p:nvSpPr>
          <p:cNvPr id="4" name="Sidebar"/>
          <p:cNvSpPr>
            <a:spLocks noGrp="1"/>
          </p:cNvSpPr>
          <p:nvPr>
            <p:ph idx="8" sz="half"/>
          </p:nvPr>
        </p:nvSpPr>
        <p:spPr/>
        <p:txBody>
          <a:bodyPr/>
          <a:lstStyle/>
          <a:p>
            <a:r>
              <a:rPr sz="1800">
                <a:solidFill>
                  <a:srgbClr val="243746"/>
                </a:solidFill>
                <a:latin typeface="Arial"/>
              </a:rPr>
              <a:t>Finance owner</a:t>
            </a:r>
          </a:p>
          <a:p>
            <a:r>
              <a:rPr sz="1800">
                <a:solidFill>
                  <a:srgbClr val="243746"/>
                </a:solidFill>
                <a:latin typeface="Arial"/>
              </a:rPr>
              <a:t>September 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Closing commitments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Confirm the planning milestones.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Partner growth plan</a:t>
            </a:r>
          </a:p>
        </p:txBody>
      </p:sp>
      <p:sp>
        <p:nvSpPr>
          <p:cNvPr id="3" name="Growth actions"/>
          <p:cNvSpPr>
            <a:spLocks noGrp="1"/>
          </p:cNvSpPr>
          <p:nvPr>
            <p:ph idx="4"/>
          </p:nvPr>
        </p:nvSpPr>
        <p:spPr>
          <a:xfrm>
            <a:off x="640080" y="1463040"/>
            <a:ext cx="6858000" cy="1508760"/>
          </a:xfrm>
        </p:spPr>
        <p:txBody>
          <a:bodyPr/>
          <a:lstStyle/>
          <a:p>
            <a:r>
              <a:rPr sz="2200" b="1">
                <a:solidFill>
                  <a:srgbClr val="243746"/>
                </a:solidFill>
                <a:latin typeface="Arial"/>
              </a:rPr>
              <a:t>Expand the partner channel</a:t>
            </a:r>
          </a:p>
          <a:p>
            <a:r>
              <a:rPr sz="2200">
                <a:solidFill>
                  <a:srgbClr val="006B5E"/>
                </a:solidFill>
                <a:latin typeface="Arial"/>
              </a:rPr>
              <a:t>Launch the joint account plan</a:t>
            </a:r>
          </a:p>
        </p:txBody>
      </p:sp>
      <p:graphicFrame>
        <p:nvGraphicFramePr>
          <p:cNvPr id="4" name="Regional pipeline"/>
          <p:cNvGraphicFramePr>
            <a:graphicFrameLocks noGrp="1"/>
          </p:cNvGraphicFramePr>
          <p:nvPr/>
        </p:nvGraphicFramePr>
        <p:xfrm>
          <a:off x="640080" y="3474720"/>
          <a:ext cx="6400800" cy="22860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Partner wordmar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23360"/>
            <a:ext cx="27432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